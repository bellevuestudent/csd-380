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64" r:id="rId5"/>
    <p:sldId id="265" r:id="rId6"/>
    <p:sldId id="266" r:id="rId7"/>
    <p:sldId id="267" r:id="rId8"/>
    <p:sldId id="268" r:id="rId9"/>
    <p:sldId id="263" r:id="rId1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821FF8-5DE4-E443-831B-08EFF11D297E}" type="doc">
      <dgm:prSet loTypeId="urn:microsoft.com/office/officeart/2005/8/layout/vList2" loCatId="list" qsTypeId="urn:microsoft.com/office/officeart/2005/8/quickstyle/simple5" qsCatId="simple" csTypeId="urn:microsoft.com/office/officeart/2005/8/colors/colorful1" csCatId="colorful" phldr="1"/>
      <dgm:spPr/>
      <dgm:t>
        <a:bodyPr/>
        <a:lstStyle/>
        <a:p>
          <a:endParaRPr lang="en-US"/>
        </a:p>
      </dgm:t>
    </dgm:pt>
    <dgm:pt modelId="{3E650F1B-2A02-E847-B42F-FCDEC0D240DF}">
      <dgm:prSet phldrT="[Text]"/>
      <dgm:spPr/>
      <dgm:t>
        <a:bodyPr/>
        <a:lstStyle/>
        <a:p>
          <a:r>
            <a:rPr lang="en-US" dirty="0"/>
            <a:t>Blame culture</a:t>
          </a:r>
        </a:p>
      </dgm:t>
    </dgm:pt>
    <dgm:pt modelId="{52D6BBB4-16BD-C547-ADAC-176C8233BA4E}" type="parTrans" cxnId="{B23BEC63-EFE1-9742-A905-408BC7898001}">
      <dgm:prSet/>
      <dgm:spPr/>
      <dgm:t>
        <a:bodyPr/>
        <a:lstStyle/>
        <a:p>
          <a:endParaRPr lang="en-US"/>
        </a:p>
      </dgm:t>
    </dgm:pt>
    <dgm:pt modelId="{6CFC6041-AFCF-6D4B-A3DF-4817899CE1C1}" type="sibTrans" cxnId="{B23BEC63-EFE1-9742-A905-408BC7898001}">
      <dgm:prSet/>
      <dgm:spPr/>
      <dgm:t>
        <a:bodyPr/>
        <a:lstStyle/>
        <a:p>
          <a:endParaRPr lang="en-US"/>
        </a:p>
      </dgm:t>
    </dgm:pt>
    <dgm:pt modelId="{AC9A40D4-6DAD-3241-9FB7-7EAA7D878940}">
      <dgm:prSet phldrT="[Text]"/>
      <dgm:spPr/>
      <dgm:t>
        <a:bodyPr/>
        <a:lstStyle/>
        <a:p>
          <a:r>
            <a:rPr lang="en-US" dirty="0"/>
            <a:t>Lack of reports</a:t>
          </a:r>
        </a:p>
      </dgm:t>
    </dgm:pt>
    <dgm:pt modelId="{1AB28D88-4A8C-A94A-A115-B8B9A931E0BA}" type="parTrans" cxnId="{2D2F9774-8F95-B048-BD75-7364464803E9}">
      <dgm:prSet/>
      <dgm:spPr/>
      <dgm:t>
        <a:bodyPr/>
        <a:lstStyle/>
        <a:p>
          <a:endParaRPr lang="en-US"/>
        </a:p>
      </dgm:t>
    </dgm:pt>
    <dgm:pt modelId="{D1B8CA95-59B1-4545-B417-D040D55805E5}" type="sibTrans" cxnId="{2D2F9774-8F95-B048-BD75-7364464803E9}">
      <dgm:prSet/>
      <dgm:spPr/>
      <dgm:t>
        <a:bodyPr/>
        <a:lstStyle/>
        <a:p>
          <a:endParaRPr lang="en-US"/>
        </a:p>
      </dgm:t>
    </dgm:pt>
    <dgm:pt modelId="{E8AB59D6-B466-4A4D-9861-D1822D51327C}">
      <dgm:prSet phldrT="[Text]"/>
      <dgm:spPr/>
      <dgm:t>
        <a:bodyPr/>
        <a:lstStyle/>
        <a:p>
          <a:r>
            <a:rPr lang="en-US" dirty="0"/>
            <a:t>Fear of retaliation</a:t>
          </a:r>
        </a:p>
      </dgm:t>
    </dgm:pt>
    <dgm:pt modelId="{97F43750-204F-EB41-B7DC-954FB88E3DC6}" type="parTrans" cxnId="{04C1B864-A125-9E46-B1BD-7ED1FC4696DC}">
      <dgm:prSet/>
      <dgm:spPr/>
      <dgm:t>
        <a:bodyPr/>
        <a:lstStyle/>
        <a:p>
          <a:endParaRPr lang="en-US"/>
        </a:p>
      </dgm:t>
    </dgm:pt>
    <dgm:pt modelId="{078D1146-3D7A-9F45-835B-0BF9B3953DF1}" type="sibTrans" cxnId="{04C1B864-A125-9E46-B1BD-7ED1FC4696DC}">
      <dgm:prSet/>
      <dgm:spPr/>
      <dgm:t>
        <a:bodyPr/>
        <a:lstStyle/>
        <a:p>
          <a:endParaRPr lang="en-US"/>
        </a:p>
      </dgm:t>
    </dgm:pt>
    <dgm:pt modelId="{EB809B13-ECB9-8F48-A44F-CE46F28D5F6F}">
      <dgm:prSet phldrT="[Text]"/>
      <dgm:spPr/>
      <dgm:t>
        <a:bodyPr/>
        <a:lstStyle/>
        <a:p>
          <a:r>
            <a:rPr lang="en-US" dirty="0"/>
            <a:t>External pressures</a:t>
          </a:r>
        </a:p>
      </dgm:t>
    </dgm:pt>
    <dgm:pt modelId="{0661611B-C765-7142-9E9C-08E86B2E3C09}" type="parTrans" cxnId="{6A996EF8-5626-694B-928A-C1B93FB6D20E}">
      <dgm:prSet/>
      <dgm:spPr/>
      <dgm:t>
        <a:bodyPr/>
        <a:lstStyle/>
        <a:p>
          <a:endParaRPr lang="en-US"/>
        </a:p>
      </dgm:t>
    </dgm:pt>
    <dgm:pt modelId="{150D49C1-E6E3-BF4D-A40F-DD92D2847C5F}" type="sibTrans" cxnId="{6A996EF8-5626-694B-928A-C1B93FB6D20E}">
      <dgm:prSet/>
      <dgm:spPr/>
      <dgm:t>
        <a:bodyPr/>
        <a:lstStyle/>
        <a:p>
          <a:endParaRPr lang="en-US"/>
        </a:p>
      </dgm:t>
    </dgm:pt>
    <dgm:pt modelId="{1E5CF197-BB52-8F49-A625-94CD6186AB7C}">
      <dgm:prSet phldrT="[Text]"/>
      <dgm:spPr/>
      <dgm:t>
        <a:bodyPr/>
        <a:lstStyle/>
        <a:p>
          <a:r>
            <a:rPr lang="en-US" dirty="0"/>
            <a:t>Weak integration of Just Culture</a:t>
          </a:r>
        </a:p>
      </dgm:t>
    </dgm:pt>
    <dgm:pt modelId="{598D89C4-0F12-6B48-B653-02B80F9753CB}" type="parTrans" cxnId="{F513E59E-2697-094B-98A6-F7FF0C939F3C}">
      <dgm:prSet/>
      <dgm:spPr/>
      <dgm:t>
        <a:bodyPr/>
        <a:lstStyle/>
        <a:p>
          <a:endParaRPr lang="en-US"/>
        </a:p>
      </dgm:t>
    </dgm:pt>
    <dgm:pt modelId="{1270EAD7-0901-8341-BF9F-307531193EDB}" type="sibTrans" cxnId="{F513E59E-2697-094B-98A6-F7FF0C939F3C}">
      <dgm:prSet/>
      <dgm:spPr/>
      <dgm:t>
        <a:bodyPr/>
        <a:lstStyle/>
        <a:p>
          <a:endParaRPr lang="en-US"/>
        </a:p>
      </dgm:t>
    </dgm:pt>
    <dgm:pt modelId="{8B19C9AC-D357-E542-B712-7F2B597B1CB9}" type="pres">
      <dgm:prSet presAssocID="{EA821FF8-5DE4-E443-831B-08EFF11D297E}" presName="linear" presStyleCnt="0">
        <dgm:presLayoutVars>
          <dgm:animLvl val="lvl"/>
          <dgm:resizeHandles val="exact"/>
        </dgm:presLayoutVars>
      </dgm:prSet>
      <dgm:spPr/>
    </dgm:pt>
    <dgm:pt modelId="{170CFF60-59C7-F340-AD13-8CE83C9CF3A8}" type="pres">
      <dgm:prSet presAssocID="{3E650F1B-2A02-E847-B42F-FCDEC0D240DF}" presName="parentText" presStyleLbl="node1" presStyleIdx="0" presStyleCnt="5">
        <dgm:presLayoutVars>
          <dgm:chMax val="0"/>
          <dgm:bulletEnabled val="1"/>
        </dgm:presLayoutVars>
      </dgm:prSet>
      <dgm:spPr/>
    </dgm:pt>
    <dgm:pt modelId="{C382F4D3-6A02-624D-94B4-EE26DCBAD6DA}" type="pres">
      <dgm:prSet presAssocID="{6CFC6041-AFCF-6D4B-A3DF-4817899CE1C1}" presName="spacer" presStyleCnt="0"/>
      <dgm:spPr/>
    </dgm:pt>
    <dgm:pt modelId="{D5B20A00-7EFF-2042-9EE5-26225EE23F40}" type="pres">
      <dgm:prSet presAssocID="{AC9A40D4-6DAD-3241-9FB7-7EAA7D878940}" presName="parentText" presStyleLbl="node1" presStyleIdx="1" presStyleCnt="5">
        <dgm:presLayoutVars>
          <dgm:chMax val="0"/>
          <dgm:bulletEnabled val="1"/>
        </dgm:presLayoutVars>
      </dgm:prSet>
      <dgm:spPr/>
    </dgm:pt>
    <dgm:pt modelId="{9820F2DB-07D6-6540-B3B1-6B966A492618}" type="pres">
      <dgm:prSet presAssocID="{D1B8CA95-59B1-4545-B417-D040D55805E5}" presName="spacer" presStyleCnt="0"/>
      <dgm:spPr/>
    </dgm:pt>
    <dgm:pt modelId="{C9BB2180-2511-A543-86F2-62C7F64A0426}" type="pres">
      <dgm:prSet presAssocID="{E8AB59D6-B466-4A4D-9861-D1822D51327C}" presName="parentText" presStyleLbl="node1" presStyleIdx="2" presStyleCnt="5">
        <dgm:presLayoutVars>
          <dgm:chMax val="0"/>
          <dgm:bulletEnabled val="1"/>
        </dgm:presLayoutVars>
      </dgm:prSet>
      <dgm:spPr/>
    </dgm:pt>
    <dgm:pt modelId="{43B0418B-84B4-C744-B006-B41F7D0FEE7D}" type="pres">
      <dgm:prSet presAssocID="{078D1146-3D7A-9F45-835B-0BF9B3953DF1}" presName="spacer" presStyleCnt="0"/>
      <dgm:spPr/>
    </dgm:pt>
    <dgm:pt modelId="{D55F545F-E000-454F-BB9E-EBBE0A4824E7}" type="pres">
      <dgm:prSet presAssocID="{EB809B13-ECB9-8F48-A44F-CE46F28D5F6F}" presName="parentText" presStyleLbl="node1" presStyleIdx="3" presStyleCnt="5">
        <dgm:presLayoutVars>
          <dgm:chMax val="0"/>
          <dgm:bulletEnabled val="1"/>
        </dgm:presLayoutVars>
      </dgm:prSet>
      <dgm:spPr/>
    </dgm:pt>
    <dgm:pt modelId="{95F9F8AA-5FD2-3742-872F-CFF4FBD7258C}" type="pres">
      <dgm:prSet presAssocID="{150D49C1-E6E3-BF4D-A40F-DD92D2847C5F}" presName="spacer" presStyleCnt="0"/>
      <dgm:spPr/>
    </dgm:pt>
    <dgm:pt modelId="{5CDF6CA3-1A3D-D34A-A9F8-EAABAECF2F06}" type="pres">
      <dgm:prSet presAssocID="{1E5CF197-BB52-8F49-A625-94CD6186AB7C}" presName="parentText" presStyleLbl="node1" presStyleIdx="4" presStyleCnt="5">
        <dgm:presLayoutVars>
          <dgm:chMax val="0"/>
          <dgm:bulletEnabled val="1"/>
        </dgm:presLayoutVars>
      </dgm:prSet>
      <dgm:spPr/>
    </dgm:pt>
  </dgm:ptLst>
  <dgm:cxnLst>
    <dgm:cxn modelId="{42AA3624-8E6F-F946-A04D-A01D97CDF50E}" type="presOf" srcId="{1E5CF197-BB52-8F49-A625-94CD6186AB7C}" destId="{5CDF6CA3-1A3D-D34A-A9F8-EAABAECF2F06}" srcOrd="0" destOrd="0" presId="urn:microsoft.com/office/officeart/2005/8/layout/vList2"/>
    <dgm:cxn modelId="{5A3E8836-06DD-D442-87FF-D94BA93D88E4}" type="presOf" srcId="{EB809B13-ECB9-8F48-A44F-CE46F28D5F6F}" destId="{D55F545F-E000-454F-BB9E-EBBE0A4824E7}" srcOrd="0" destOrd="0" presId="urn:microsoft.com/office/officeart/2005/8/layout/vList2"/>
    <dgm:cxn modelId="{94BFD75E-BA14-FD4E-9276-D8922CC0D911}" type="presOf" srcId="{3E650F1B-2A02-E847-B42F-FCDEC0D240DF}" destId="{170CFF60-59C7-F340-AD13-8CE83C9CF3A8}" srcOrd="0" destOrd="0" presId="urn:microsoft.com/office/officeart/2005/8/layout/vList2"/>
    <dgm:cxn modelId="{B23BEC63-EFE1-9742-A905-408BC7898001}" srcId="{EA821FF8-5DE4-E443-831B-08EFF11D297E}" destId="{3E650F1B-2A02-E847-B42F-FCDEC0D240DF}" srcOrd="0" destOrd="0" parTransId="{52D6BBB4-16BD-C547-ADAC-176C8233BA4E}" sibTransId="{6CFC6041-AFCF-6D4B-A3DF-4817899CE1C1}"/>
    <dgm:cxn modelId="{04C1B864-A125-9E46-B1BD-7ED1FC4696DC}" srcId="{EA821FF8-5DE4-E443-831B-08EFF11D297E}" destId="{E8AB59D6-B466-4A4D-9861-D1822D51327C}" srcOrd="2" destOrd="0" parTransId="{97F43750-204F-EB41-B7DC-954FB88E3DC6}" sibTransId="{078D1146-3D7A-9F45-835B-0BF9B3953DF1}"/>
    <dgm:cxn modelId="{2D2F9774-8F95-B048-BD75-7364464803E9}" srcId="{EA821FF8-5DE4-E443-831B-08EFF11D297E}" destId="{AC9A40D4-6DAD-3241-9FB7-7EAA7D878940}" srcOrd="1" destOrd="0" parTransId="{1AB28D88-4A8C-A94A-A115-B8B9A931E0BA}" sibTransId="{D1B8CA95-59B1-4545-B417-D040D55805E5}"/>
    <dgm:cxn modelId="{F513E59E-2697-094B-98A6-F7FF0C939F3C}" srcId="{EA821FF8-5DE4-E443-831B-08EFF11D297E}" destId="{1E5CF197-BB52-8F49-A625-94CD6186AB7C}" srcOrd="4" destOrd="0" parTransId="{598D89C4-0F12-6B48-B653-02B80F9753CB}" sibTransId="{1270EAD7-0901-8341-BF9F-307531193EDB}"/>
    <dgm:cxn modelId="{03B21BBD-BA8E-D043-9E62-46D972C6F1F5}" type="presOf" srcId="{E8AB59D6-B466-4A4D-9861-D1822D51327C}" destId="{C9BB2180-2511-A543-86F2-62C7F64A0426}" srcOrd="0" destOrd="0" presId="urn:microsoft.com/office/officeart/2005/8/layout/vList2"/>
    <dgm:cxn modelId="{1A0EC8C1-FEF0-D947-ADA8-0252E5684CE6}" type="presOf" srcId="{AC9A40D4-6DAD-3241-9FB7-7EAA7D878940}" destId="{D5B20A00-7EFF-2042-9EE5-26225EE23F40}" srcOrd="0" destOrd="0" presId="urn:microsoft.com/office/officeart/2005/8/layout/vList2"/>
    <dgm:cxn modelId="{6A996EF8-5626-694B-928A-C1B93FB6D20E}" srcId="{EA821FF8-5DE4-E443-831B-08EFF11D297E}" destId="{EB809B13-ECB9-8F48-A44F-CE46F28D5F6F}" srcOrd="3" destOrd="0" parTransId="{0661611B-C765-7142-9E9C-08E86B2E3C09}" sibTransId="{150D49C1-E6E3-BF4D-A40F-DD92D2847C5F}"/>
    <dgm:cxn modelId="{EB93D2FB-F9D6-254C-AC8E-54D479D4F23D}" type="presOf" srcId="{EA821FF8-5DE4-E443-831B-08EFF11D297E}" destId="{8B19C9AC-D357-E542-B712-7F2B597B1CB9}" srcOrd="0" destOrd="0" presId="urn:microsoft.com/office/officeart/2005/8/layout/vList2"/>
    <dgm:cxn modelId="{D08E3BFA-9DB6-7746-B8EE-89D356EBAF15}" type="presParOf" srcId="{8B19C9AC-D357-E542-B712-7F2B597B1CB9}" destId="{170CFF60-59C7-F340-AD13-8CE83C9CF3A8}" srcOrd="0" destOrd="0" presId="urn:microsoft.com/office/officeart/2005/8/layout/vList2"/>
    <dgm:cxn modelId="{E483B73A-DB62-6046-8F08-811C47B4B7C1}" type="presParOf" srcId="{8B19C9AC-D357-E542-B712-7F2B597B1CB9}" destId="{C382F4D3-6A02-624D-94B4-EE26DCBAD6DA}" srcOrd="1" destOrd="0" presId="urn:microsoft.com/office/officeart/2005/8/layout/vList2"/>
    <dgm:cxn modelId="{D6702858-2B4A-CB4B-B093-5D1DA17CBF2F}" type="presParOf" srcId="{8B19C9AC-D357-E542-B712-7F2B597B1CB9}" destId="{D5B20A00-7EFF-2042-9EE5-26225EE23F40}" srcOrd="2" destOrd="0" presId="urn:microsoft.com/office/officeart/2005/8/layout/vList2"/>
    <dgm:cxn modelId="{FD7AE82C-62AF-1746-96BF-74FA054A587B}" type="presParOf" srcId="{8B19C9AC-D357-E542-B712-7F2B597B1CB9}" destId="{9820F2DB-07D6-6540-B3B1-6B966A492618}" srcOrd="3" destOrd="0" presId="urn:microsoft.com/office/officeart/2005/8/layout/vList2"/>
    <dgm:cxn modelId="{5C29A4C8-4A23-1E46-B653-0A5C38BCD109}" type="presParOf" srcId="{8B19C9AC-D357-E542-B712-7F2B597B1CB9}" destId="{C9BB2180-2511-A543-86F2-62C7F64A0426}" srcOrd="4" destOrd="0" presId="urn:microsoft.com/office/officeart/2005/8/layout/vList2"/>
    <dgm:cxn modelId="{B126027A-D268-C64F-9F0E-92DBEBC0A1A7}" type="presParOf" srcId="{8B19C9AC-D357-E542-B712-7F2B597B1CB9}" destId="{43B0418B-84B4-C744-B006-B41F7D0FEE7D}" srcOrd="5" destOrd="0" presId="urn:microsoft.com/office/officeart/2005/8/layout/vList2"/>
    <dgm:cxn modelId="{40A4E30A-ED88-AC4E-A5B1-D1B7355F26EE}" type="presParOf" srcId="{8B19C9AC-D357-E542-B712-7F2B597B1CB9}" destId="{D55F545F-E000-454F-BB9E-EBBE0A4824E7}" srcOrd="6" destOrd="0" presId="urn:microsoft.com/office/officeart/2005/8/layout/vList2"/>
    <dgm:cxn modelId="{7F00E7A1-5E42-3244-97D9-EF693C63B741}" type="presParOf" srcId="{8B19C9AC-D357-E542-B712-7F2B597B1CB9}" destId="{95F9F8AA-5FD2-3742-872F-CFF4FBD7258C}" srcOrd="7" destOrd="0" presId="urn:microsoft.com/office/officeart/2005/8/layout/vList2"/>
    <dgm:cxn modelId="{492A3C65-BFDD-2B41-B016-CC8FA0D43003}" type="presParOf" srcId="{8B19C9AC-D357-E542-B712-7F2B597B1CB9}" destId="{5CDF6CA3-1A3D-D34A-A9F8-EAABAECF2F06}"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0CFF60-59C7-F340-AD13-8CE83C9CF3A8}">
      <dsp:nvSpPr>
        <dsp:cNvPr id="0" name=""/>
        <dsp:cNvSpPr/>
      </dsp:nvSpPr>
      <dsp:spPr>
        <a:xfrm>
          <a:off x="0" y="281551"/>
          <a:ext cx="4972152" cy="663389"/>
        </a:xfrm>
        <a:prstGeom prst="roundRect">
          <a:avLst/>
        </a:prstGeom>
        <a:gradFill rotWithShape="0">
          <a:gsLst>
            <a:gs pos="0">
              <a:schemeClr val="accent2">
                <a:hueOff val="0"/>
                <a:satOff val="0"/>
                <a:lumOff val="0"/>
                <a:alphaOff val="0"/>
                <a:tint val="94000"/>
                <a:lumMod val="102000"/>
                <a:satMod val="103000"/>
              </a:schemeClr>
            </a:gs>
            <a:gs pos="50000">
              <a:schemeClr val="accent2">
                <a:hueOff val="0"/>
                <a:satOff val="0"/>
                <a:lumOff val="0"/>
                <a:alphaOff val="0"/>
                <a:shade val="100000"/>
                <a:lumMod val="100000"/>
                <a:satMod val="110000"/>
              </a:schemeClr>
            </a:gs>
            <a:gs pos="100000">
              <a:schemeClr val="accent2">
                <a:hueOff val="0"/>
                <a:satOff val="0"/>
                <a:lumOff val="0"/>
                <a:alphaOff val="0"/>
                <a:shade val="78000"/>
                <a:lumMod val="99000"/>
                <a:satMod val="12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Blame culture</a:t>
          </a:r>
        </a:p>
      </dsp:txBody>
      <dsp:txXfrm>
        <a:off x="32384" y="313935"/>
        <a:ext cx="4907384" cy="598621"/>
      </dsp:txXfrm>
    </dsp:sp>
    <dsp:sp modelId="{D5B20A00-7EFF-2042-9EE5-26225EE23F40}">
      <dsp:nvSpPr>
        <dsp:cNvPr id="0" name=""/>
        <dsp:cNvSpPr/>
      </dsp:nvSpPr>
      <dsp:spPr>
        <a:xfrm>
          <a:off x="0" y="1022702"/>
          <a:ext cx="4972152" cy="663389"/>
        </a:xfrm>
        <a:prstGeom prst="roundRect">
          <a:avLst/>
        </a:prstGeom>
        <a:gradFill rotWithShape="0">
          <a:gsLst>
            <a:gs pos="0">
              <a:schemeClr val="accent3">
                <a:hueOff val="0"/>
                <a:satOff val="0"/>
                <a:lumOff val="0"/>
                <a:alphaOff val="0"/>
                <a:tint val="94000"/>
                <a:lumMod val="102000"/>
                <a:satMod val="103000"/>
              </a:schemeClr>
            </a:gs>
            <a:gs pos="50000">
              <a:schemeClr val="accent3">
                <a:hueOff val="0"/>
                <a:satOff val="0"/>
                <a:lumOff val="0"/>
                <a:alphaOff val="0"/>
                <a:shade val="100000"/>
                <a:lumMod val="100000"/>
                <a:satMod val="110000"/>
              </a:schemeClr>
            </a:gs>
            <a:gs pos="100000">
              <a:schemeClr val="accent3">
                <a:hueOff val="0"/>
                <a:satOff val="0"/>
                <a:lumOff val="0"/>
                <a:alphaOff val="0"/>
                <a:shade val="78000"/>
                <a:lumMod val="99000"/>
                <a:satMod val="12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Lack of reports</a:t>
          </a:r>
        </a:p>
      </dsp:txBody>
      <dsp:txXfrm>
        <a:off x="32384" y="1055086"/>
        <a:ext cx="4907384" cy="598621"/>
      </dsp:txXfrm>
    </dsp:sp>
    <dsp:sp modelId="{C9BB2180-2511-A543-86F2-62C7F64A0426}">
      <dsp:nvSpPr>
        <dsp:cNvPr id="0" name=""/>
        <dsp:cNvSpPr/>
      </dsp:nvSpPr>
      <dsp:spPr>
        <a:xfrm>
          <a:off x="0" y="1763852"/>
          <a:ext cx="4972152" cy="663389"/>
        </a:xfrm>
        <a:prstGeom prst="roundRect">
          <a:avLst/>
        </a:prstGeom>
        <a:gradFill rotWithShape="0">
          <a:gsLst>
            <a:gs pos="0">
              <a:schemeClr val="accent4">
                <a:hueOff val="0"/>
                <a:satOff val="0"/>
                <a:lumOff val="0"/>
                <a:alphaOff val="0"/>
                <a:tint val="94000"/>
                <a:lumMod val="102000"/>
                <a:satMod val="103000"/>
              </a:schemeClr>
            </a:gs>
            <a:gs pos="50000">
              <a:schemeClr val="accent4">
                <a:hueOff val="0"/>
                <a:satOff val="0"/>
                <a:lumOff val="0"/>
                <a:alphaOff val="0"/>
                <a:shade val="100000"/>
                <a:lumMod val="100000"/>
                <a:satMod val="110000"/>
              </a:schemeClr>
            </a:gs>
            <a:gs pos="100000">
              <a:schemeClr val="accent4">
                <a:hueOff val="0"/>
                <a:satOff val="0"/>
                <a:lumOff val="0"/>
                <a:alphaOff val="0"/>
                <a:shade val="78000"/>
                <a:lumMod val="99000"/>
                <a:satMod val="12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Fear of retaliation</a:t>
          </a:r>
        </a:p>
      </dsp:txBody>
      <dsp:txXfrm>
        <a:off x="32384" y="1796236"/>
        <a:ext cx="4907384" cy="598621"/>
      </dsp:txXfrm>
    </dsp:sp>
    <dsp:sp modelId="{D55F545F-E000-454F-BB9E-EBBE0A4824E7}">
      <dsp:nvSpPr>
        <dsp:cNvPr id="0" name=""/>
        <dsp:cNvSpPr/>
      </dsp:nvSpPr>
      <dsp:spPr>
        <a:xfrm>
          <a:off x="0" y="2505002"/>
          <a:ext cx="4972152" cy="663389"/>
        </a:xfrm>
        <a:prstGeom prst="roundRect">
          <a:avLst/>
        </a:prstGeom>
        <a:gradFill rotWithShape="0">
          <a:gsLst>
            <a:gs pos="0">
              <a:schemeClr val="accent5">
                <a:hueOff val="0"/>
                <a:satOff val="0"/>
                <a:lumOff val="0"/>
                <a:alphaOff val="0"/>
                <a:tint val="94000"/>
                <a:lumMod val="102000"/>
                <a:satMod val="103000"/>
              </a:schemeClr>
            </a:gs>
            <a:gs pos="50000">
              <a:schemeClr val="accent5">
                <a:hueOff val="0"/>
                <a:satOff val="0"/>
                <a:lumOff val="0"/>
                <a:alphaOff val="0"/>
                <a:shade val="100000"/>
                <a:lumMod val="100000"/>
                <a:satMod val="110000"/>
              </a:schemeClr>
            </a:gs>
            <a:gs pos="100000">
              <a:schemeClr val="accent5">
                <a:hueOff val="0"/>
                <a:satOff val="0"/>
                <a:lumOff val="0"/>
                <a:alphaOff val="0"/>
                <a:shade val="78000"/>
                <a:lumMod val="99000"/>
                <a:satMod val="12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External pressures</a:t>
          </a:r>
        </a:p>
      </dsp:txBody>
      <dsp:txXfrm>
        <a:off x="32384" y="2537386"/>
        <a:ext cx="4907384" cy="598621"/>
      </dsp:txXfrm>
    </dsp:sp>
    <dsp:sp modelId="{5CDF6CA3-1A3D-D34A-A9F8-EAABAECF2F06}">
      <dsp:nvSpPr>
        <dsp:cNvPr id="0" name=""/>
        <dsp:cNvSpPr/>
      </dsp:nvSpPr>
      <dsp:spPr>
        <a:xfrm>
          <a:off x="0" y="3246152"/>
          <a:ext cx="4972152" cy="663389"/>
        </a:xfrm>
        <a:prstGeom prst="roundRect">
          <a:avLst/>
        </a:prstGeom>
        <a:gradFill rotWithShape="0">
          <a:gsLst>
            <a:gs pos="0">
              <a:schemeClr val="accent6">
                <a:hueOff val="0"/>
                <a:satOff val="0"/>
                <a:lumOff val="0"/>
                <a:alphaOff val="0"/>
                <a:tint val="94000"/>
                <a:lumMod val="102000"/>
                <a:satMod val="103000"/>
              </a:schemeClr>
            </a:gs>
            <a:gs pos="50000">
              <a:schemeClr val="accent6">
                <a:hueOff val="0"/>
                <a:satOff val="0"/>
                <a:lumOff val="0"/>
                <a:alphaOff val="0"/>
                <a:shade val="100000"/>
                <a:lumMod val="100000"/>
                <a:satMod val="110000"/>
              </a:schemeClr>
            </a:gs>
            <a:gs pos="100000">
              <a:schemeClr val="accent6">
                <a:hueOff val="0"/>
                <a:satOff val="0"/>
                <a:lumOff val="0"/>
                <a:alphaOff val="0"/>
                <a:shade val="78000"/>
                <a:lumMod val="99000"/>
                <a:satMod val="12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Weak integration of Just Culture</a:t>
          </a:r>
        </a:p>
      </dsp:txBody>
      <dsp:txXfrm>
        <a:off x="32384" y="3278536"/>
        <a:ext cx="4907384" cy="59862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E321F-B5BC-3273-4E21-AE66A103948A}"/>
              </a:ext>
            </a:extLst>
          </p:cNvPr>
          <p:cNvSpPr>
            <a:spLocks noGrp="1"/>
          </p:cNvSpPr>
          <p:nvPr>
            <p:ph type="ctrTitle"/>
          </p:nvPr>
        </p:nvSpPr>
        <p:spPr>
          <a:xfrm>
            <a:off x="1524000" y="1122363"/>
            <a:ext cx="9144000" cy="2387600"/>
          </a:xfrm>
        </p:spPr>
        <p:style>
          <a:lnRef idx="1">
            <a:schemeClr val="accent3"/>
          </a:lnRef>
          <a:fillRef idx="2">
            <a:schemeClr val="accent3"/>
          </a:fillRef>
          <a:effectRef idx="1">
            <a:schemeClr val="accent3"/>
          </a:effectRef>
          <a:fontRef idx="minor">
            <a:schemeClr val="dk1"/>
          </a:fontRef>
        </p:style>
        <p:txBody>
          <a:bodyPr anchor="b"/>
          <a:lstStyle>
            <a:lvl1pPr algn="ctr">
              <a:buNone/>
              <a:defRPr sz="6000" b="1">
                <a:solidFill>
                  <a:schemeClr val="accent3">
                    <a:lumMod val="50000"/>
                  </a:schemeClr>
                </a:solidFill>
                <a:latin typeface="Apple Symbols"/>
                <a:ea typeface="Apple Symbols"/>
                <a:cs typeface="Apple Symbols"/>
              </a:defRPr>
            </a:lvl1pPr>
          </a:lstStyle>
          <a:p>
            <a:r>
              <a:t>Click to edit Master title style</a:t>
            </a:r>
          </a:p>
        </p:txBody>
      </p:sp>
      <p:sp>
        <p:nvSpPr>
          <p:cNvPr id="3" name="Subtitle 2">
            <a:extLst>
              <a:ext uri="{FF2B5EF4-FFF2-40B4-BE49-F238E27FC236}">
                <a16:creationId xmlns:a16="http://schemas.microsoft.com/office/drawing/2014/main" id="{3D8DF465-429F-551E-23A8-899B7F10685F}"/>
              </a:ext>
            </a:extLst>
          </p:cNvPr>
          <p:cNvSpPr>
            <a:spLocks noGrp="1"/>
          </p:cNvSpPr>
          <p:nvPr>
            <p:ph type="subTitle" idx="1"/>
          </p:nvPr>
        </p:nvSpPr>
        <p:spPr>
          <a:xfrm>
            <a:off x="1524000" y="3602038"/>
            <a:ext cx="9144000" cy="1655762"/>
          </a:xfrm>
        </p:spPr>
        <p:style>
          <a:lnRef idx="1">
            <a:schemeClr val="accent6"/>
          </a:lnRef>
          <a:fillRef idx="2">
            <a:schemeClr val="accent6"/>
          </a:fillRef>
          <a:effectRef idx="1">
            <a:schemeClr val="accent6"/>
          </a:effectRef>
          <a:fontRef idx="minor">
            <a:schemeClr val="dk1"/>
          </a:fontRef>
        </p:style>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570D8CCA-5CFC-623D-7524-E3E3E50F59F2}"/>
              </a:ext>
            </a:extLst>
          </p:cNvPr>
          <p:cNvSpPr>
            <a:spLocks noGrp="1"/>
          </p:cNvSpPr>
          <p:nvPr>
            <p:ph type="dt" idx="10"/>
          </p:nvPr>
        </p:nvSpPr>
        <p:spPr/>
        <p:style>
          <a:lnRef idx="1">
            <a:schemeClr val="accent6"/>
          </a:lnRef>
          <a:fillRef idx="2">
            <a:schemeClr val="accent6"/>
          </a:fillRef>
          <a:effectRef idx="1">
            <a:schemeClr val="accent6"/>
          </a:effectRef>
          <a:fontRef idx="minor">
            <a:schemeClr val="dk1"/>
          </a:fontRef>
        </p:style>
        <p:txBody>
          <a:bodyPr/>
          <a:lstStyle/>
          <a:p>
            <a:fld id="{3DB777E8-5D1E-D042-AA96-C25520647283}" type="datetimeFigureOut">
              <a:t>7/19/26</a:t>
            </a:fld>
            <a:endParaRPr/>
          </a:p>
        </p:txBody>
      </p:sp>
      <p:sp>
        <p:nvSpPr>
          <p:cNvPr id="5" name="Footer Placeholder 4">
            <a:extLst>
              <a:ext uri="{FF2B5EF4-FFF2-40B4-BE49-F238E27FC236}">
                <a16:creationId xmlns:a16="http://schemas.microsoft.com/office/drawing/2014/main" id="{2CB020CF-B7A2-8C68-4396-2B4B759C682E}"/>
              </a:ext>
            </a:extLst>
          </p:cNvPr>
          <p:cNvSpPr>
            <a:spLocks noGrp="1"/>
          </p:cNvSpPr>
          <p:nvPr>
            <p:ph type="ftr" idx="11"/>
          </p:nvPr>
        </p:nvSpPr>
        <p:spPr/>
        <p:style>
          <a:lnRef idx="1">
            <a:schemeClr val="accent3"/>
          </a:lnRef>
          <a:fillRef idx="2">
            <a:schemeClr val="accent3"/>
          </a:fillRef>
          <a:effectRef idx="1">
            <a:schemeClr val="accent3"/>
          </a:effectRef>
          <a:fontRef idx="minor">
            <a:schemeClr val="dk1"/>
          </a:fontRef>
        </p:style>
        <p:txBody>
          <a:bodyPr/>
          <a:lstStyle/>
          <a:p>
            <a:endParaRPr/>
          </a:p>
        </p:txBody>
      </p:sp>
      <p:sp>
        <p:nvSpPr>
          <p:cNvPr id="6" name="Slide Number Placeholder 5">
            <a:extLst>
              <a:ext uri="{FF2B5EF4-FFF2-40B4-BE49-F238E27FC236}">
                <a16:creationId xmlns:a16="http://schemas.microsoft.com/office/drawing/2014/main" id="{9DE8C734-1A84-5E38-13B5-FE383919F15F}"/>
              </a:ext>
            </a:extLst>
          </p:cNvPr>
          <p:cNvSpPr>
            <a:spLocks noGrp="1"/>
          </p:cNvSpPr>
          <p:nvPr>
            <p:ph type="sldNum" idx="12"/>
          </p:nvPr>
        </p:nvSpPr>
        <p:spPr/>
        <p:style>
          <a:lnRef idx="1">
            <a:schemeClr val="accent6"/>
          </a:lnRef>
          <a:fillRef idx="2">
            <a:schemeClr val="accent6"/>
          </a:fillRef>
          <a:effectRef idx="1">
            <a:schemeClr val="accent6"/>
          </a:effectRef>
          <a:fontRef idx="minor">
            <a:schemeClr val="dk1"/>
          </a:fontRef>
        </p:style>
        <p:txBody>
          <a:bodyPr/>
          <a:lstStyle/>
          <a:p>
            <a:fld id="{75C3F21A-1311-AA41-80EE-D4B602FE9368}"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A6225-53C2-A586-6824-50D418430AF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90C5C08-3B3D-64DF-217B-AC9435FCD7A6}"/>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4193C48F-5C93-0B15-5805-F02783B7A51D}"/>
              </a:ext>
            </a:extLst>
          </p:cNvPr>
          <p:cNvSpPr>
            <a:spLocks noGrp="1"/>
          </p:cNvSpPr>
          <p:nvPr>
            <p:ph type="dt" idx="10"/>
          </p:nvPr>
        </p:nvSpPr>
        <p:spPr/>
        <p:txBody>
          <a:bodyPr/>
          <a:lstStyle/>
          <a:p>
            <a:fld id="{3DB777E8-5D1E-D042-AA96-C25520647283}" type="datetimeFigureOut">
              <a:t>7/19/26</a:t>
            </a:fld>
            <a:endParaRPr/>
          </a:p>
        </p:txBody>
      </p:sp>
      <p:sp>
        <p:nvSpPr>
          <p:cNvPr id="5" name="Footer Placeholder 4">
            <a:extLst>
              <a:ext uri="{FF2B5EF4-FFF2-40B4-BE49-F238E27FC236}">
                <a16:creationId xmlns:a16="http://schemas.microsoft.com/office/drawing/2014/main" id="{A290B8B2-408C-9067-BEFA-C0406D0FA75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F4684F3-C359-0DDF-EFC0-1F115E2B0AFA}"/>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D1B7-F4B1-D4F9-5298-44675B363E83}"/>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F35FC846-2056-95EA-1592-D57A1D34B0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46194EEA-9CFF-42C5-22FA-399D58FFFDB6}"/>
              </a:ext>
            </a:extLst>
          </p:cNvPr>
          <p:cNvSpPr>
            <a:spLocks noGrp="1"/>
          </p:cNvSpPr>
          <p:nvPr>
            <p:ph type="dt" idx="10"/>
          </p:nvPr>
        </p:nvSpPr>
        <p:spPr/>
        <p:txBody>
          <a:bodyPr/>
          <a:lstStyle/>
          <a:p>
            <a:fld id="{3DB777E8-5D1E-D042-AA96-C25520647283}" type="datetimeFigureOut">
              <a:t>7/19/26</a:t>
            </a:fld>
            <a:endParaRPr/>
          </a:p>
        </p:txBody>
      </p:sp>
      <p:sp>
        <p:nvSpPr>
          <p:cNvPr id="5" name="Footer Placeholder 4">
            <a:extLst>
              <a:ext uri="{FF2B5EF4-FFF2-40B4-BE49-F238E27FC236}">
                <a16:creationId xmlns:a16="http://schemas.microsoft.com/office/drawing/2014/main" id="{14963DA8-88FA-AE1E-29B2-A2D389CF03F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0A7E508-AE17-18A6-BBF7-50AF11685B7D}"/>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BEB0-6C34-0D12-7D05-107470DCC4D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C70F0977-FCEC-51C2-ADF7-E3C6C9EA4765}"/>
              </a:ext>
            </a:extLst>
          </p:cNvPr>
          <p:cNvSpPr>
            <a:spLocks noGrp="1"/>
          </p:cNvSpPr>
          <p:nvPr>
            <p:ph idx="1"/>
          </p:nvPr>
        </p:nvSpPr>
        <p:spPr>
          <a:xfrm>
            <a:off x="838200" y="1825625"/>
            <a:ext cx="5181600" cy="435133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96566F63-A58D-13A9-E681-1D4A6A1C5B6F}"/>
              </a:ext>
            </a:extLst>
          </p:cNvPr>
          <p:cNvSpPr>
            <a:spLocks noGrp="1"/>
          </p:cNvSpPr>
          <p:nvPr>
            <p:ph idx="2"/>
          </p:nvPr>
        </p:nvSpPr>
        <p:spPr>
          <a:xfrm>
            <a:off x="6172200" y="1825625"/>
            <a:ext cx="5181600" cy="435133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BAC569F5-3CEE-7C58-58FA-FAB5E0448B7C}"/>
              </a:ext>
            </a:extLst>
          </p:cNvPr>
          <p:cNvSpPr>
            <a:spLocks noGrp="1"/>
          </p:cNvSpPr>
          <p:nvPr>
            <p:ph type="dt" idx="10"/>
          </p:nvPr>
        </p:nvSpPr>
        <p:spPr/>
        <p:txBody>
          <a:bodyPr/>
          <a:lstStyle/>
          <a:p>
            <a:fld id="{3DB777E8-5D1E-D042-AA96-C25520647283}" type="datetimeFigureOut">
              <a:t>7/19/26</a:t>
            </a:fld>
            <a:endParaRPr/>
          </a:p>
        </p:txBody>
      </p:sp>
      <p:sp>
        <p:nvSpPr>
          <p:cNvPr id="6" name="Footer Placeholder 5">
            <a:extLst>
              <a:ext uri="{FF2B5EF4-FFF2-40B4-BE49-F238E27FC236}">
                <a16:creationId xmlns:a16="http://schemas.microsoft.com/office/drawing/2014/main" id="{41075669-4207-8339-9768-80F95E061B6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8977AC2-26A1-C488-C318-9C5C347F1B9C}"/>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3AF3-FD70-516F-1A15-F3534943DE7D}"/>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9EC7D971-2EF9-3573-94D5-D4512B2EA5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D73A55D9-B568-D1CF-5F2C-A93B236FE0BE}"/>
              </a:ext>
            </a:extLst>
          </p:cNvPr>
          <p:cNvSpPr>
            <a:spLocks noGrp="1"/>
          </p:cNvSpPr>
          <p:nvPr>
            <p:ph idx="2"/>
          </p:nvPr>
        </p:nvSpPr>
        <p:spPr>
          <a:xfrm>
            <a:off x="839788" y="2505075"/>
            <a:ext cx="5157787"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34C0B991-20C0-22F7-3F8C-F8C4CDFE408C}"/>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DD918ABB-E411-7BF4-DB1E-D66497C20F19}"/>
              </a:ext>
            </a:extLst>
          </p:cNvPr>
          <p:cNvSpPr>
            <a:spLocks noGrp="1"/>
          </p:cNvSpPr>
          <p:nvPr>
            <p:ph idx="4"/>
          </p:nvPr>
        </p:nvSpPr>
        <p:spPr>
          <a:xfrm>
            <a:off x="6172200" y="2505075"/>
            <a:ext cx="5183188"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6BDA70FE-5A23-54AA-554D-D6CE22EC6F2A}"/>
              </a:ext>
            </a:extLst>
          </p:cNvPr>
          <p:cNvSpPr>
            <a:spLocks noGrp="1"/>
          </p:cNvSpPr>
          <p:nvPr>
            <p:ph type="dt" idx="10"/>
          </p:nvPr>
        </p:nvSpPr>
        <p:spPr/>
        <p:txBody>
          <a:bodyPr/>
          <a:lstStyle/>
          <a:p>
            <a:fld id="{3DB777E8-5D1E-D042-AA96-C25520647283}" type="datetimeFigureOut">
              <a:t>7/19/26</a:t>
            </a:fld>
            <a:endParaRPr/>
          </a:p>
        </p:txBody>
      </p:sp>
      <p:sp>
        <p:nvSpPr>
          <p:cNvPr id="8" name="Footer Placeholder 7">
            <a:extLst>
              <a:ext uri="{FF2B5EF4-FFF2-40B4-BE49-F238E27FC236}">
                <a16:creationId xmlns:a16="http://schemas.microsoft.com/office/drawing/2014/main" id="{1A983453-024B-B372-4F4E-18B5CA69F0FA}"/>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0915057-A415-C326-1C25-E66F6E20CFCB}"/>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9D93-47FD-681B-8F58-535A5A63201D}"/>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31F9E58-A85C-E55C-2B80-21AE8CA24594}"/>
              </a:ext>
            </a:extLst>
          </p:cNvPr>
          <p:cNvSpPr>
            <a:spLocks noGrp="1"/>
          </p:cNvSpPr>
          <p:nvPr>
            <p:ph type="dt" idx="10"/>
          </p:nvPr>
        </p:nvSpPr>
        <p:spPr/>
        <p:txBody>
          <a:bodyPr/>
          <a:lstStyle/>
          <a:p>
            <a:fld id="{3DB777E8-5D1E-D042-AA96-C25520647283}" type="datetimeFigureOut">
              <a:t>7/19/26</a:t>
            </a:fld>
            <a:endParaRPr/>
          </a:p>
        </p:txBody>
      </p:sp>
      <p:sp>
        <p:nvSpPr>
          <p:cNvPr id="4" name="Footer Placeholder 3">
            <a:extLst>
              <a:ext uri="{FF2B5EF4-FFF2-40B4-BE49-F238E27FC236}">
                <a16:creationId xmlns:a16="http://schemas.microsoft.com/office/drawing/2014/main" id="{F5FD5029-96E6-B22D-DA17-745210960F66}"/>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662E1E41-324A-B246-A15E-55975DAF3429}"/>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F3865D-92C8-A2D3-A97C-7A1BAA6A177B}"/>
              </a:ext>
            </a:extLst>
          </p:cNvPr>
          <p:cNvSpPr>
            <a:spLocks noGrp="1"/>
          </p:cNvSpPr>
          <p:nvPr>
            <p:ph type="dt" idx="10"/>
          </p:nvPr>
        </p:nvSpPr>
        <p:spPr/>
        <p:txBody>
          <a:bodyPr/>
          <a:lstStyle/>
          <a:p>
            <a:fld id="{3DB777E8-5D1E-D042-AA96-C25520647283}" type="datetimeFigureOut">
              <a:t>7/19/26</a:t>
            </a:fld>
            <a:endParaRPr/>
          </a:p>
        </p:txBody>
      </p:sp>
      <p:sp>
        <p:nvSpPr>
          <p:cNvPr id="3" name="Footer Placeholder 2">
            <a:extLst>
              <a:ext uri="{FF2B5EF4-FFF2-40B4-BE49-F238E27FC236}">
                <a16:creationId xmlns:a16="http://schemas.microsoft.com/office/drawing/2014/main" id="{64F9F15D-3E87-17C5-A2A8-F79B43D7D91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1809B131-CFCA-4193-30B6-52100CE1CAA3}"/>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1B15A-A214-B3E0-290E-D25113A61B52}"/>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2A15ED33-6753-4414-5D6D-BF7876693B4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7D40916A-8782-1582-CE9E-FD03D19730C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D312BD7F-BF03-F179-2E98-29E21D0C3634}"/>
              </a:ext>
            </a:extLst>
          </p:cNvPr>
          <p:cNvSpPr>
            <a:spLocks noGrp="1"/>
          </p:cNvSpPr>
          <p:nvPr>
            <p:ph type="dt" idx="10"/>
          </p:nvPr>
        </p:nvSpPr>
        <p:spPr/>
        <p:txBody>
          <a:bodyPr/>
          <a:lstStyle/>
          <a:p>
            <a:fld id="{3DB777E8-5D1E-D042-AA96-C25520647283}" type="datetimeFigureOut">
              <a:t>7/19/26</a:t>
            </a:fld>
            <a:endParaRPr/>
          </a:p>
        </p:txBody>
      </p:sp>
      <p:sp>
        <p:nvSpPr>
          <p:cNvPr id="6" name="Footer Placeholder 5">
            <a:extLst>
              <a:ext uri="{FF2B5EF4-FFF2-40B4-BE49-F238E27FC236}">
                <a16:creationId xmlns:a16="http://schemas.microsoft.com/office/drawing/2014/main" id="{94E9CFC4-02BD-AC03-5CAF-2F3DB983F1E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ED2C512-A258-6A16-AC25-0AC12FA1D394}"/>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791E-F1D7-1723-7C63-4D87C41C99D5}"/>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C1BF5A1E-57C7-7F7B-B37E-26145A4278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565F5F9-8BBF-6749-A9BE-2DC55AC25AED}"/>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EFD07277-7FA9-237A-8221-A4F15147F78A}"/>
              </a:ext>
            </a:extLst>
          </p:cNvPr>
          <p:cNvSpPr>
            <a:spLocks noGrp="1"/>
          </p:cNvSpPr>
          <p:nvPr>
            <p:ph type="dt" idx="10"/>
          </p:nvPr>
        </p:nvSpPr>
        <p:spPr/>
        <p:txBody>
          <a:bodyPr/>
          <a:lstStyle/>
          <a:p>
            <a:fld id="{3DB777E8-5D1E-D042-AA96-C25520647283}" type="datetimeFigureOut">
              <a:t>7/19/26</a:t>
            </a:fld>
            <a:endParaRPr/>
          </a:p>
        </p:txBody>
      </p:sp>
      <p:sp>
        <p:nvSpPr>
          <p:cNvPr id="6" name="Footer Placeholder 5">
            <a:extLst>
              <a:ext uri="{FF2B5EF4-FFF2-40B4-BE49-F238E27FC236}">
                <a16:creationId xmlns:a16="http://schemas.microsoft.com/office/drawing/2014/main" id="{4F60CA40-7011-9186-B7DF-1133942AB51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BE7087E-4C8A-427F-9C89-F59AB40A3419}"/>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5D28-3C52-C553-DE65-B2881EC8289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5B178ED7-B2C0-472E-2DD4-3E69F512269D}"/>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AE976F0C-5669-8A54-4EDA-CB6DCF0A6D47}"/>
              </a:ext>
            </a:extLst>
          </p:cNvPr>
          <p:cNvSpPr>
            <a:spLocks noGrp="1"/>
          </p:cNvSpPr>
          <p:nvPr>
            <p:ph type="dt" idx="10"/>
          </p:nvPr>
        </p:nvSpPr>
        <p:spPr/>
        <p:txBody>
          <a:bodyPr/>
          <a:lstStyle/>
          <a:p>
            <a:fld id="{3DB777E8-5D1E-D042-AA96-C25520647283}" type="datetimeFigureOut">
              <a:t>7/19/26</a:t>
            </a:fld>
            <a:endParaRPr/>
          </a:p>
        </p:txBody>
      </p:sp>
      <p:sp>
        <p:nvSpPr>
          <p:cNvPr id="5" name="Footer Placeholder 4">
            <a:extLst>
              <a:ext uri="{FF2B5EF4-FFF2-40B4-BE49-F238E27FC236}">
                <a16:creationId xmlns:a16="http://schemas.microsoft.com/office/drawing/2014/main" id="{45BB19B2-AC33-06DF-04EA-DC22E714963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1B8C144-5964-6351-6D89-58ADA1A4A3C5}"/>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975FBD-0C4B-2CD8-35A5-7FBFF806AB95}"/>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FC410C68-66F8-7358-947F-0BE5737829FE}"/>
              </a:ext>
            </a:extLst>
          </p:cNvPr>
          <p:cNvSpPr>
            <a:spLocks noGrp="1"/>
          </p:cNvSpPr>
          <p:nvPr>
            <p:ph type="body" idx="1"/>
          </p:nvPr>
        </p:nvSpPr>
        <p:spPr>
          <a:xfrm>
            <a:off x="838200" y="365125"/>
            <a:ext cx="7734300" cy="5811838"/>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DA4ACAD6-5453-3C66-66AE-8205F6234CB8}"/>
              </a:ext>
            </a:extLst>
          </p:cNvPr>
          <p:cNvSpPr>
            <a:spLocks noGrp="1"/>
          </p:cNvSpPr>
          <p:nvPr>
            <p:ph type="dt" idx="10"/>
          </p:nvPr>
        </p:nvSpPr>
        <p:spPr/>
        <p:txBody>
          <a:bodyPr/>
          <a:lstStyle/>
          <a:p>
            <a:fld id="{3DB777E8-5D1E-D042-AA96-C25520647283}" type="datetimeFigureOut">
              <a:t>7/19/26</a:t>
            </a:fld>
            <a:endParaRPr/>
          </a:p>
        </p:txBody>
      </p:sp>
      <p:sp>
        <p:nvSpPr>
          <p:cNvPr id="5" name="Footer Placeholder 4">
            <a:extLst>
              <a:ext uri="{FF2B5EF4-FFF2-40B4-BE49-F238E27FC236}">
                <a16:creationId xmlns:a16="http://schemas.microsoft.com/office/drawing/2014/main" id="{931FA4FF-28B3-406E-2428-1B72CE270C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D2938D0-C9AB-7D79-3B52-B71FEA64E78F}"/>
              </a:ext>
            </a:extLst>
          </p:cNvPr>
          <p:cNvSpPr>
            <a:spLocks noGrp="1"/>
          </p:cNvSpPr>
          <p:nvPr>
            <p:ph type="sldNum" idx="12"/>
          </p:nvPr>
        </p:nvSpPr>
        <p:spPr/>
        <p:txBody>
          <a:bodyPr/>
          <a:lstStyle/>
          <a:p>
            <a:fld id="{75C3F21A-1311-AA41-80EE-D4B602FE9368}"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445E1B-CA2A-A073-CD0E-3611BC2EDCC8}"/>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A9BEEDEA-6833-5B13-8048-099207D2FF1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9ECDBCFF-4EEA-E9CD-6F71-F85B48638FBC}"/>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3DB777E8-5D1E-D042-AA96-C25520647283}" type="datetimeFigureOut">
              <a:t>7/19/26</a:t>
            </a:fld>
            <a:endParaRPr/>
          </a:p>
        </p:txBody>
      </p:sp>
      <p:sp>
        <p:nvSpPr>
          <p:cNvPr id="5" name="Footer Placeholder 4">
            <a:extLst>
              <a:ext uri="{FF2B5EF4-FFF2-40B4-BE49-F238E27FC236}">
                <a16:creationId xmlns:a16="http://schemas.microsoft.com/office/drawing/2014/main" id="{4ED92AA4-98A6-EBD4-10F5-2D164BBFE7E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8E9BEFD8-4F07-F2BA-41E8-5979B9DB65BE}"/>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75C3F21A-1311-AA41-80EE-D4B602FE936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Lst>
          </p:cNvPr>
          <p:cNvSpPr>
            <a:spLocks noGrp="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64053CBF-3932-45FF-8285-EE5146085F3A}"/>
              </a:ext>
            </a:extLst>
          </p:cNvPr>
          <p:cNvSpPr>
            <a:spLocks noGrp="1"/>
          </p:cNvSpPr>
          <p:nvPr/>
        </p:nvSpPr>
        <p:spPr>
          <a:xfrm>
            <a:off x="0" y="0"/>
            <a:ext cx="12191695" cy="6858000"/>
          </a:xfrm>
          <a:prstGeom prst="rect">
            <a:avLst/>
          </a:prstGeom>
          <a:gradFill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dirty="0"/>
          </a:p>
        </p:txBody>
      </p:sp>
      <p:sp>
        <p:nvSpPr>
          <p:cNvPr id="13" name="Freeform: Shape 12">
            <a:extLst>
              <a:ext uri="{FF2B5EF4-FFF2-40B4-BE49-F238E27FC236}">
                <a16:creationId xmlns:a16="http://schemas.microsoft.com/office/drawing/2014/main" id="{2625A013-D9BE-43C4-AF21-6F2B003EFBEF}"/>
              </a:ext>
            </a:extLst>
          </p:cNvPr>
          <p:cNvSpPr>
            <a:spLocks noGrp="1"/>
          </p:cNvSpPr>
          <p:nvPr/>
        </p:nvSpPr>
        <p:spPr>
          <a:xfrm flipH="1">
            <a:off x="-12486106" y="-8167"/>
            <a:ext cx="4834070" cy="2488150"/>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Freeform: Shape 13">
            <a:extLst>
              <a:ext uri="{FF2B5EF4-FFF2-40B4-BE49-F238E27FC236}">
                <a16:creationId xmlns:a16="http://schemas.microsoft.com/office/drawing/2014/main" id="{F7875715-EC2E-457F-851D-F6C817685FEC}"/>
              </a:ext>
            </a:extLst>
          </p:cNvPr>
          <p:cNvSpPr>
            <a:spLocks noGrp="1"/>
          </p:cNvSpPr>
          <p:nvPr/>
        </p:nvSpPr>
        <p:spPr>
          <a:xfrm flipH="1">
            <a:off x="-12530999" y="-8167"/>
            <a:ext cx="4789177" cy="2280679"/>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Freeform: Shape 14">
            <a:extLst>
              <a:ext uri="{FF2B5EF4-FFF2-40B4-BE49-F238E27FC236}">
                <a16:creationId xmlns:a16="http://schemas.microsoft.com/office/drawing/2014/main" id="{F7E41CC6-0C83-40EE-80BB-79394D9E9B2F}"/>
              </a:ext>
            </a:extLst>
          </p:cNvPr>
          <p:cNvSpPr>
            <a:spLocks noGrp="1"/>
          </p:cNvSpPr>
          <p:nvPr/>
        </p:nvSpPr>
        <p:spPr>
          <a:xfrm flipH="1">
            <a:off x="-12535309" y="-8167"/>
            <a:ext cx="4784867" cy="2240141"/>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00603498-5DFE-4D26-BFB5-C9269C9BDB0A}"/>
              </a:ext>
            </a:extLst>
          </p:cNvPr>
          <p:cNvSpPr>
            <a:spLocks noGrp="1"/>
          </p:cNvSpPr>
          <p:nvPr/>
        </p:nvSpPr>
        <p:spPr>
          <a:xfrm flipH="1">
            <a:off x="-12535309" y="-8167"/>
            <a:ext cx="4784867" cy="2240141"/>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A51CE7A5-04E7-AB33-632E-F1AA6D0A09CE}"/>
              </a:ext>
            </a:extLst>
          </p:cNvPr>
          <p:cNvSpPr>
            <a:spLocks noGrp="1"/>
          </p:cNvSpPr>
          <p:nvPr>
            <p:ph type="title"/>
          </p:nvPr>
        </p:nvSpPr>
        <p:spPr>
          <a:xfrm>
            <a:off x="3027924" y="991261"/>
            <a:ext cx="5754696" cy="1837349"/>
          </a:xfrm>
        </p:spPr>
        <p:txBody>
          <a:bodyPr>
            <a:normAutofit fontScale="90000"/>
          </a:bodyPr>
          <a:lstStyle/>
          <a:p>
            <a:pPr algn="ctr">
              <a:buNone/>
            </a:pPr>
            <a:endParaRPr dirty="0">
              <a:latin typeface="Apple Symbols" panose="02000000000000000000" pitchFamily="2" charset="-79"/>
              <a:ea typeface="Apple Symbols" panose="02000000000000000000" pitchFamily="2" charset="-79"/>
              <a:cs typeface="Apple Symbols" panose="02000000000000000000" pitchFamily="2" charset="-79"/>
            </a:endParaRPr>
          </a:p>
          <a:p>
            <a:pPr algn="ctr">
              <a:buNone/>
            </a:pPr>
            <a:r>
              <a:rPr b="1" dirty="0">
                <a:latin typeface="Apple Symbols" panose="02000000000000000000" pitchFamily="2" charset="-79"/>
                <a:ea typeface="Apple Symbols" panose="02000000000000000000" pitchFamily="2" charset="-79"/>
                <a:cs typeface="Apple Symbols" panose="02000000000000000000" pitchFamily="2" charset="-79"/>
              </a:rPr>
              <a:t>What are the barriers or challenges to implementing a just culture?</a:t>
            </a:r>
          </a:p>
        </p:txBody>
      </p:sp>
      <p:sp>
        <p:nvSpPr>
          <p:cNvPr id="3" name="Content Placeholder 2">
            <a:extLst>
              <a:ext uri="{FF2B5EF4-FFF2-40B4-BE49-F238E27FC236}">
                <a16:creationId xmlns:a16="http://schemas.microsoft.com/office/drawing/2014/main" id="{D0046068-0F9C-002D-6404-EEA1E1B9E9C1}"/>
              </a:ext>
            </a:extLst>
          </p:cNvPr>
          <p:cNvSpPr>
            <a:spLocks noGrp="1"/>
          </p:cNvSpPr>
          <p:nvPr>
            <p:ph idx="1"/>
          </p:nvPr>
        </p:nvSpPr>
        <p:spPr>
          <a:xfrm>
            <a:off x="3050412" y="2979336"/>
            <a:ext cx="5709721" cy="2430864"/>
          </a:xfrm>
        </p:spPr>
        <p:txBody>
          <a:bodyPr anchor="t">
            <a:normAutofit/>
          </a:bodyPr>
          <a:lstStyle/>
          <a:p>
            <a:pPr marL="0" indent="0">
              <a:buNone/>
            </a:pPr>
            <a:endParaRPr dirty="0">
              <a:latin typeface="Apple Symbols" panose="02000000000000000000" pitchFamily="2" charset="-79"/>
              <a:ea typeface="Apple Symbols" panose="02000000000000000000" pitchFamily="2" charset="-79"/>
              <a:cs typeface="Apple Symbols" panose="02000000000000000000" pitchFamily="2" charset="-79"/>
            </a:endParaRPr>
          </a:p>
          <a:p>
            <a:pPr marL="0" indent="0">
              <a:buNone/>
            </a:pPr>
            <a:r>
              <a:rPr sz="20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By Patrice Moracchini</a:t>
            </a:r>
          </a:p>
          <a:p>
            <a:pPr marL="0" indent="0">
              <a:buNone/>
            </a:pPr>
            <a:r>
              <a:rPr sz="20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CSD-380</a:t>
            </a:r>
          </a:p>
          <a:p>
            <a:pPr marL="0" indent="0">
              <a:buNone/>
            </a:pPr>
            <a:r>
              <a:rPr sz="20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06/29/2026</a:t>
            </a:r>
          </a:p>
          <a:p>
            <a:pPr marL="0" indent="0">
              <a:buNone/>
            </a:pPr>
            <a:r>
              <a:rPr sz="20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Pr. Sampson</a:t>
            </a:r>
          </a:p>
        </p:txBody>
      </p:sp>
      <p:sp>
        <p:nvSpPr>
          <p:cNvPr id="19" name="Freeform: Shape 18">
            <a:extLst>
              <a:ext uri="{FF2B5EF4-FFF2-40B4-BE49-F238E27FC236}">
                <a16:creationId xmlns:a16="http://schemas.microsoft.com/office/drawing/2014/main" id="{62F7819D-2B89-4D80-A1C3-8B318116BAAD}"/>
              </a:ext>
            </a:extLst>
          </p:cNvPr>
          <p:cNvSpPr>
            <a:spLocks noGrp="1"/>
          </p:cNvSpPr>
          <p:nvPr/>
        </p:nvSpPr>
        <p:spPr>
          <a:xfrm>
            <a:off x="9058275" y="4151501"/>
            <a:ext cx="3142400" cy="2711613"/>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Freeform: Shape 19">
            <a:extLst>
              <a:ext uri="{FF2B5EF4-FFF2-40B4-BE49-F238E27FC236}">
                <a16:creationId xmlns:a16="http://schemas.microsoft.com/office/drawing/2014/main" id="{B7065990-2350-41B3-858B-20EF8744F26C}"/>
              </a:ext>
            </a:extLst>
          </p:cNvPr>
          <p:cNvSpPr>
            <a:spLocks noGrp="1"/>
          </p:cNvSpPr>
          <p:nvPr/>
        </p:nvSpPr>
        <p:spPr>
          <a:xfrm>
            <a:off x="9058275" y="4146310"/>
            <a:ext cx="3115053" cy="2433874"/>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Freeform: Shape 20">
            <a:extLst>
              <a:ext uri="{FF2B5EF4-FFF2-40B4-BE49-F238E27FC236}">
                <a16:creationId xmlns:a16="http://schemas.microsoft.com/office/drawing/2014/main" id="{58DA7EC7-CAA0-4665-AA29-BFBA806ECAB2}"/>
              </a:ext>
            </a:extLst>
          </p:cNvPr>
          <p:cNvSpPr>
            <a:spLocks noGrp="1"/>
          </p:cNvSpPr>
          <p:nvPr/>
        </p:nvSpPr>
        <p:spPr>
          <a:xfrm>
            <a:off x="9058275" y="4151501"/>
            <a:ext cx="3125083" cy="2464869"/>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2" name="Freeform: Shape 21">
            <a:extLst>
              <a:ext uri="{FF2B5EF4-FFF2-40B4-BE49-F238E27FC236}">
                <a16:creationId xmlns:a16="http://schemas.microsoft.com/office/drawing/2014/main" id="{B1132A14-489F-4CED-B626-2A1711C987C2}"/>
              </a:ext>
            </a:extLst>
          </p:cNvPr>
          <p:cNvSpPr>
            <a:spLocks noGrp="1"/>
          </p:cNvSpPr>
          <p:nvPr/>
        </p:nvSpPr>
        <p:spPr>
          <a:xfrm>
            <a:off x="9059037" y="4151502"/>
            <a:ext cx="3112608" cy="2428582"/>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748114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Lst>
          </p:cNvPr>
          <p:cNvSpPr>
            <a:spLocks noGrp="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64053CBF-3932-45FF-8285-EE5146085F3A}"/>
              </a:ext>
            </a:extLst>
          </p:cNvPr>
          <p:cNvSpPr>
            <a:spLocks noGrp="1"/>
          </p:cNvSpPr>
          <p:nvPr/>
        </p:nvSpPr>
        <p:spPr>
          <a:xfrm>
            <a:off x="0" y="0"/>
            <a:ext cx="12191695" cy="6858000"/>
          </a:xfrm>
          <a:prstGeom prst="rect">
            <a:avLst/>
          </a:prstGeom>
          <a:gradFill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Freeform: Shape 12">
            <a:extLst>
              <a:ext uri="{FF2B5EF4-FFF2-40B4-BE49-F238E27FC236}">
                <a16:creationId xmlns:a16="http://schemas.microsoft.com/office/drawing/2014/main" id="{2625A013-D9BE-43C4-AF21-6F2B003EFBEF}"/>
              </a:ext>
            </a:extLst>
          </p:cNvPr>
          <p:cNvSpPr>
            <a:spLocks noGrp="1"/>
          </p:cNvSpPr>
          <p:nvPr/>
        </p:nvSpPr>
        <p:spPr>
          <a:xfrm flipH="1">
            <a:off x="-12486106" y="-8167"/>
            <a:ext cx="4834070" cy="2488150"/>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Freeform: Shape 13">
            <a:extLst>
              <a:ext uri="{FF2B5EF4-FFF2-40B4-BE49-F238E27FC236}">
                <a16:creationId xmlns:a16="http://schemas.microsoft.com/office/drawing/2014/main" id="{F7875715-EC2E-457F-851D-F6C817685FEC}"/>
              </a:ext>
            </a:extLst>
          </p:cNvPr>
          <p:cNvSpPr>
            <a:spLocks noGrp="1"/>
          </p:cNvSpPr>
          <p:nvPr/>
        </p:nvSpPr>
        <p:spPr>
          <a:xfrm flipH="1">
            <a:off x="-12530999" y="-8167"/>
            <a:ext cx="4789177" cy="2280679"/>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Freeform: Shape 14">
            <a:extLst>
              <a:ext uri="{FF2B5EF4-FFF2-40B4-BE49-F238E27FC236}">
                <a16:creationId xmlns:a16="http://schemas.microsoft.com/office/drawing/2014/main" id="{F7E41CC6-0C83-40EE-80BB-79394D9E9B2F}"/>
              </a:ext>
            </a:extLst>
          </p:cNvPr>
          <p:cNvSpPr>
            <a:spLocks noGrp="1"/>
          </p:cNvSpPr>
          <p:nvPr/>
        </p:nvSpPr>
        <p:spPr>
          <a:xfrm flipH="1">
            <a:off x="-12535309" y="-8167"/>
            <a:ext cx="4784867" cy="2240141"/>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00603498-5DFE-4D26-BFB5-C9269C9BDB0A}"/>
              </a:ext>
            </a:extLst>
          </p:cNvPr>
          <p:cNvSpPr>
            <a:spLocks noGrp="1"/>
          </p:cNvSpPr>
          <p:nvPr/>
        </p:nvSpPr>
        <p:spPr>
          <a:xfrm flipH="1">
            <a:off x="-12535309" y="-8167"/>
            <a:ext cx="4784867" cy="2240141"/>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A51CE7A5-04E7-AB33-632E-F1AA6D0A09CE}"/>
              </a:ext>
            </a:extLst>
          </p:cNvPr>
          <p:cNvSpPr>
            <a:spLocks noGrp="1"/>
          </p:cNvSpPr>
          <p:nvPr>
            <p:ph type="title"/>
          </p:nvPr>
        </p:nvSpPr>
        <p:spPr>
          <a:xfrm>
            <a:off x="3027924" y="991261"/>
            <a:ext cx="5754696" cy="1837349"/>
          </a:xfrm>
        </p:spPr>
        <p:txBody>
          <a:bodyPr>
            <a:normAutofit fontScale="96432"/>
          </a:bodyPr>
          <a:lstStyle/>
          <a:p>
            <a:pPr algn="ctr">
              <a:buNone/>
            </a:pPr>
            <a:endParaRPr b="1" dirty="0">
              <a:latin typeface="Apple Symbols" panose="02000000000000000000" pitchFamily="2" charset="-79"/>
              <a:ea typeface="Apple Symbols" panose="02000000000000000000" pitchFamily="2" charset="-79"/>
              <a:cs typeface="Apple Symbols" panose="02000000000000000000" pitchFamily="2" charset="-79"/>
            </a:endParaRPr>
          </a:p>
          <a:p>
            <a:pPr algn="ctr">
              <a:buNone/>
            </a:pPr>
            <a:r>
              <a:rPr b="1" dirty="0">
                <a:latin typeface="Apple Symbols" panose="02000000000000000000" pitchFamily="2" charset="-79"/>
                <a:ea typeface="Apple Symbols" panose="02000000000000000000" pitchFamily="2" charset="-79"/>
                <a:cs typeface="Apple Symbols" panose="02000000000000000000" pitchFamily="2" charset="-79"/>
              </a:rPr>
              <a:t>Definition of a Just Culture</a:t>
            </a:r>
          </a:p>
        </p:txBody>
      </p:sp>
      <p:sp>
        <p:nvSpPr>
          <p:cNvPr id="3" name="Content Placeholder 2">
            <a:extLst>
              <a:ext uri="{FF2B5EF4-FFF2-40B4-BE49-F238E27FC236}">
                <a16:creationId xmlns:a16="http://schemas.microsoft.com/office/drawing/2014/main" id="{D0046068-0F9C-002D-6404-EEA1E1B9E9C1}"/>
              </a:ext>
            </a:extLst>
          </p:cNvPr>
          <p:cNvSpPr>
            <a:spLocks noGrp="1"/>
          </p:cNvSpPr>
          <p:nvPr>
            <p:ph idx="1"/>
          </p:nvPr>
        </p:nvSpPr>
        <p:spPr>
          <a:xfrm>
            <a:off x="2583712" y="2979336"/>
            <a:ext cx="7347097" cy="2430864"/>
          </a:xfrm>
        </p:spPr>
        <p:txBody>
          <a:bodyPr anchor="t">
            <a:noAutofit/>
          </a:bodyPr>
          <a:lstStyle/>
          <a:p>
            <a:pPr marL="0" indent="0">
              <a:buNone/>
            </a:pPr>
            <a:endParaRPr sz="2000" dirty="0">
              <a:latin typeface="Apple Symbols" panose="02000000000000000000" pitchFamily="2" charset="-79"/>
              <a:ea typeface="Apple Symbols" panose="02000000000000000000" pitchFamily="2" charset="-79"/>
              <a:cs typeface="Apple Symbols" panose="02000000000000000000" pitchFamily="2" charset="-79"/>
            </a:endParaRPr>
          </a:p>
          <a:p>
            <a:pPr marL="0" indent="0">
              <a:buNone/>
            </a:pPr>
            <a:r>
              <a:rPr sz="20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A Just Culture is a non-common enterprise environment. While most companies have historically focused on multiplying rules and increasing punishment for mistakes, Just Culture seeks the opposite by diminishing employees’ fear of punishment and fostering a learning environment. “When engineers make mistakes and feel safe when giving details about it, they are not only willing to be held accountable, but also enthusiastic in helping the rest of the company avoid the same error in the future”.(Kim et al., 2016)</a:t>
            </a:r>
          </a:p>
        </p:txBody>
      </p:sp>
      <p:sp>
        <p:nvSpPr>
          <p:cNvPr id="19" name="Freeform: Shape 18">
            <a:extLst>
              <a:ext uri="{FF2B5EF4-FFF2-40B4-BE49-F238E27FC236}">
                <a16:creationId xmlns:a16="http://schemas.microsoft.com/office/drawing/2014/main" id="{62F7819D-2B89-4D80-A1C3-8B318116BAAD}"/>
              </a:ext>
            </a:extLst>
          </p:cNvPr>
          <p:cNvSpPr>
            <a:spLocks noGrp="1"/>
          </p:cNvSpPr>
          <p:nvPr/>
        </p:nvSpPr>
        <p:spPr>
          <a:xfrm>
            <a:off x="9058275" y="4151501"/>
            <a:ext cx="3142400" cy="2711613"/>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Freeform: Shape 19">
            <a:extLst>
              <a:ext uri="{FF2B5EF4-FFF2-40B4-BE49-F238E27FC236}">
                <a16:creationId xmlns:a16="http://schemas.microsoft.com/office/drawing/2014/main" id="{B7065990-2350-41B3-858B-20EF8744F26C}"/>
              </a:ext>
            </a:extLst>
          </p:cNvPr>
          <p:cNvSpPr>
            <a:spLocks noGrp="1"/>
          </p:cNvSpPr>
          <p:nvPr/>
        </p:nvSpPr>
        <p:spPr>
          <a:xfrm>
            <a:off x="9058275" y="4146310"/>
            <a:ext cx="3115053" cy="2433874"/>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Freeform: Shape 20">
            <a:extLst>
              <a:ext uri="{FF2B5EF4-FFF2-40B4-BE49-F238E27FC236}">
                <a16:creationId xmlns:a16="http://schemas.microsoft.com/office/drawing/2014/main" id="{58DA7EC7-CAA0-4665-AA29-BFBA806ECAB2}"/>
              </a:ext>
            </a:extLst>
          </p:cNvPr>
          <p:cNvSpPr>
            <a:spLocks noGrp="1"/>
          </p:cNvSpPr>
          <p:nvPr/>
        </p:nvSpPr>
        <p:spPr>
          <a:xfrm>
            <a:off x="9058275" y="4151501"/>
            <a:ext cx="3125083" cy="2464869"/>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2" name="Freeform: Shape 21">
            <a:extLst>
              <a:ext uri="{FF2B5EF4-FFF2-40B4-BE49-F238E27FC236}">
                <a16:creationId xmlns:a16="http://schemas.microsoft.com/office/drawing/2014/main" id="{B1132A14-489F-4CED-B626-2A1711C987C2}"/>
              </a:ext>
            </a:extLst>
          </p:cNvPr>
          <p:cNvSpPr>
            <a:spLocks noGrp="1"/>
          </p:cNvSpPr>
          <p:nvPr/>
        </p:nvSpPr>
        <p:spPr>
          <a:xfrm>
            <a:off x="9059037" y="4151502"/>
            <a:ext cx="3112608" cy="2428582"/>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748114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Lst>
          </p:cNvPr>
          <p:cNvSpPr>
            <a:spLocks noGrp="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64053CBF-3932-45FF-8285-EE5146085F3A}"/>
              </a:ext>
            </a:extLst>
          </p:cNvPr>
          <p:cNvSpPr>
            <a:spLocks noGrp="1"/>
          </p:cNvSpPr>
          <p:nvPr/>
        </p:nvSpPr>
        <p:spPr>
          <a:xfrm>
            <a:off x="-8337" y="0"/>
            <a:ext cx="12191695" cy="6858000"/>
          </a:xfrm>
          <a:prstGeom prst="rect">
            <a:avLst/>
          </a:prstGeom>
          <a:gradFill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Freeform: Shape 12">
            <a:extLst>
              <a:ext uri="{FF2B5EF4-FFF2-40B4-BE49-F238E27FC236}">
                <a16:creationId xmlns:a16="http://schemas.microsoft.com/office/drawing/2014/main" id="{2625A013-D9BE-43C4-AF21-6F2B003EFBEF}"/>
              </a:ext>
            </a:extLst>
          </p:cNvPr>
          <p:cNvSpPr>
            <a:spLocks noGrp="1"/>
          </p:cNvSpPr>
          <p:nvPr/>
        </p:nvSpPr>
        <p:spPr>
          <a:xfrm flipH="1">
            <a:off x="-12486106" y="-8167"/>
            <a:ext cx="4834070" cy="2488150"/>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Freeform: Shape 13">
            <a:extLst>
              <a:ext uri="{FF2B5EF4-FFF2-40B4-BE49-F238E27FC236}">
                <a16:creationId xmlns:a16="http://schemas.microsoft.com/office/drawing/2014/main" id="{F7875715-EC2E-457F-851D-F6C817685FEC}"/>
              </a:ext>
            </a:extLst>
          </p:cNvPr>
          <p:cNvSpPr>
            <a:spLocks noGrp="1"/>
          </p:cNvSpPr>
          <p:nvPr/>
        </p:nvSpPr>
        <p:spPr>
          <a:xfrm flipH="1">
            <a:off x="-12530999" y="-8167"/>
            <a:ext cx="4789177" cy="2280679"/>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Freeform: Shape 14">
            <a:extLst>
              <a:ext uri="{FF2B5EF4-FFF2-40B4-BE49-F238E27FC236}">
                <a16:creationId xmlns:a16="http://schemas.microsoft.com/office/drawing/2014/main" id="{F7E41CC6-0C83-40EE-80BB-79394D9E9B2F}"/>
              </a:ext>
            </a:extLst>
          </p:cNvPr>
          <p:cNvSpPr>
            <a:spLocks noGrp="1"/>
          </p:cNvSpPr>
          <p:nvPr/>
        </p:nvSpPr>
        <p:spPr>
          <a:xfrm flipH="1">
            <a:off x="-12535309" y="-8167"/>
            <a:ext cx="4784867" cy="2240141"/>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00603498-5DFE-4D26-BFB5-C9269C9BDB0A}"/>
              </a:ext>
            </a:extLst>
          </p:cNvPr>
          <p:cNvSpPr>
            <a:spLocks noGrp="1"/>
          </p:cNvSpPr>
          <p:nvPr/>
        </p:nvSpPr>
        <p:spPr>
          <a:xfrm flipH="1">
            <a:off x="-12535309" y="-8167"/>
            <a:ext cx="4784867" cy="2240141"/>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A51CE7A5-04E7-AB33-632E-F1AA6D0A09CE}"/>
              </a:ext>
            </a:extLst>
          </p:cNvPr>
          <p:cNvSpPr>
            <a:spLocks noGrp="1"/>
          </p:cNvSpPr>
          <p:nvPr>
            <p:ph type="title"/>
          </p:nvPr>
        </p:nvSpPr>
        <p:spPr>
          <a:xfrm>
            <a:off x="3027924" y="991261"/>
            <a:ext cx="5754696" cy="1837349"/>
          </a:xfrm>
        </p:spPr>
        <p:txBody>
          <a:bodyPr>
            <a:normAutofit fontScale="96432"/>
          </a:bodyPr>
          <a:lstStyle/>
          <a:p>
            <a:pPr algn="ctr">
              <a:buNone/>
            </a:pPr>
            <a:endParaRPr b="1" dirty="0">
              <a:latin typeface="Apple Symbols" panose="02000000000000000000" pitchFamily="2" charset="-79"/>
              <a:ea typeface="Apple Symbols" panose="02000000000000000000" pitchFamily="2" charset="-79"/>
              <a:cs typeface="Apple Symbols" panose="02000000000000000000" pitchFamily="2" charset="-79"/>
            </a:endParaRPr>
          </a:p>
          <a:p>
            <a:pPr algn="ctr">
              <a:buNone/>
            </a:pPr>
            <a:r>
              <a:rPr b="1" dirty="0">
                <a:latin typeface="Apple Symbols" panose="02000000000000000000" pitchFamily="2" charset="-79"/>
                <a:ea typeface="Apple Symbols" panose="02000000000000000000" pitchFamily="2" charset="-79"/>
                <a:cs typeface="Apple Symbols" panose="02000000000000000000" pitchFamily="2" charset="-79"/>
              </a:rPr>
              <a:t>A Postmortem </a:t>
            </a:r>
            <a:r>
              <a:rPr b="1" dirty="0" err="1">
                <a:latin typeface="Apple Symbols" panose="02000000000000000000" pitchFamily="2" charset="-79"/>
                <a:ea typeface="Apple Symbols" panose="02000000000000000000" pitchFamily="2" charset="-79"/>
                <a:cs typeface="Apple Symbols" panose="02000000000000000000" pitchFamily="2" charset="-79"/>
              </a:rPr>
              <a:t>Phylosophy</a:t>
            </a:r>
            <a:endParaRPr b="1"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D0046068-0F9C-002D-6404-EEA1E1B9E9C1}"/>
              </a:ext>
            </a:extLst>
          </p:cNvPr>
          <p:cNvSpPr>
            <a:spLocks noGrp="1"/>
          </p:cNvSpPr>
          <p:nvPr>
            <p:ph idx="1"/>
          </p:nvPr>
        </p:nvSpPr>
        <p:spPr>
          <a:xfrm>
            <a:off x="3050412" y="2479983"/>
            <a:ext cx="5709721" cy="2930217"/>
          </a:xfrm>
        </p:spPr>
        <p:txBody>
          <a:bodyPr anchor="t">
            <a:noAutofit/>
          </a:bodyPr>
          <a:lstStyle/>
          <a:p>
            <a:pPr marL="0" indent="0">
              <a:buNone/>
            </a:pPr>
            <a:endParaRPr sz="1800" dirty="0">
              <a:latin typeface="Apple Symbols" panose="02000000000000000000" pitchFamily="2" charset="-79"/>
              <a:ea typeface="Apple Symbols" panose="02000000000000000000" pitchFamily="2" charset="-79"/>
              <a:cs typeface="Apple Symbols" panose="02000000000000000000" pitchFamily="2" charset="-79"/>
            </a:endParaRPr>
          </a:p>
          <a:p>
            <a:pPr marL="0" indent="0">
              <a:buNone/>
            </a:pPr>
            <a:r>
              <a:rPr sz="18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“A postmortem is a written record of an incident, its impact, the actions taken to mitigate or resolve it, the root cause(s), and the follow-up actions to prevent the incident from recurring.” (Beyer et al., 2016) This is the Google definition.</a:t>
            </a:r>
          </a:p>
          <a:p>
            <a:pPr marL="0" indent="0">
              <a:buNone/>
            </a:pPr>
            <a:r>
              <a:rPr sz="18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The blameless culture comes from industries such as healthcare and avionics, where mistakes can be fatal. The goal of a postmortem is to focus more on investigating the system than assigning blame to one person.</a:t>
            </a:r>
          </a:p>
          <a:p>
            <a:pPr marL="0" indent="0">
              <a:buNone/>
            </a:pPr>
            <a:r>
              <a:rPr sz="18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Encouraging employees to report mistakes through postmortems helps identify caveats in the systems and fosters learning that will help avoid the same mistakes.</a:t>
            </a:r>
          </a:p>
        </p:txBody>
      </p:sp>
      <p:sp>
        <p:nvSpPr>
          <p:cNvPr id="19" name="Freeform: Shape 18">
            <a:extLst>
              <a:ext uri="{FF2B5EF4-FFF2-40B4-BE49-F238E27FC236}">
                <a16:creationId xmlns:a16="http://schemas.microsoft.com/office/drawing/2014/main" id="{62F7819D-2B89-4D80-A1C3-8B318116BAAD}"/>
              </a:ext>
            </a:extLst>
          </p:cNvPr>
          <p:cNvSpPr>
            <a:spLocks noGrp="1"/>
          </p:cNvSpPr>
          <p:nvPr/>
        </p:nvSpPr>
        <p:spPr>
          <a:xfrm>
            <a:off x="9058275" y="4151501"/>
            <a:ext cx="3142400" cy="2711613"/>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Freeform: Shape 19">
            <a:extLst>
              <a:ext uri="{FF2B5EF4-FFF2-40B4-BE49-F238E27FC236}">
                <a16:creationId xmlns:a16="http://schemas.microsoft.com/office/drawing/2014/main" id="{B7065990-2350-41B3-858B-20EF8744F26C}"/>
              </a:ext>
            </a:extLst>
          </p:cNvPr>
          <p:cNvSpPr>
            <a:spLocks noGrp="1"/>
          </p:cNvSpPr>
          <p:nvPr/>
        </p:nvSpPr>
        <p:spPr>
          <a:xfrm>
            <a:off x="9058275" y="4146310"/>
            <a:ext cx="3115053" cy="2433874"/>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Freeform: Shape 20">
            <a:extLst>
              <a:ext uri="{FF2B5EF4-FFF2-40B4-BE49-F238E27FC236}">
                <a16:creationId xmlns:a16="http://schemas.microsoft.com/office/drawing/2014/main" id="{58DA7EC7-CAA0-4665-AA29-BFBA806ECAB2}"/>
              </a:ext>
            </a:extLst>
          </p:cNvPr>
          <p:cNvSpPr>
            <a:spLocks noGrp="1"/>
          </p:cNvSpPr>
          <p:nvPr/>
        </p:nvSpPr>
        <p:spPr>
          <a:xfrm>
            <a:off x="9058275" y="4151501"/>
            <a:ext cx="3125083" cy="2464869"/>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2" name="Freeform: Shape 21">
            <a:extLst>
              <a:ext uri="{FF2B5EF4-FFF2-40B4-BE49-F238E27FC236}">
                <a16:creationId xmlns:a16="http://schemas.microsoft.com/office/drawing/2014/main" id="{B1132A14-489F-4CED-B626-2A1711C987C2}"/>
              </a:ext>
            </a:extLst>
          </p:cNvPr>
          <p:cNvSpPr>
            <a:spLocks noGrp="1"/>
          </p:cNvSpPr>
          <p:nvPr/>
        </p:nvSpPr>
        <p:spPr>
          <a:xfrm>
            <a:off x="9059037" y="4151502"/>
            <a:ext cx="3112608" cy="2428582"/>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74811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E322D11-01A5-E62A-4AFC-3976F180FB49}"/>
              </a:ext>
            </a:extLst>
          </p:cNvPr>
          <p:cNvSpPr>
            <a:spLocks noGrp="1"/>
          </p:cNvSpPr>
          <p:nvPr>
            <p:ph type="title"/>
          </p:nvPr>
        </p:nvSpPr>
        <p:spPr>
          <a:xfrm>
            <a:off x="640080" y="1243013"/>
            <a:ext cx="3855720" cy="4371974"/>
          </a:xfrm>
        </p:spPr>
        <p:txBody>
          <a:bodyPr>
            <a:normAutofit/>
          </a:bodyPr>
          <a:lstStyle/>
          <a:p>
            <a:r>
              <a:rPr lang="en-US" b="1" dirty="0">
                <a:solidFill>
                  <a:schemeClr val="tx2"/>
                </a:solidFill>
              </a:rPr>
              <a:t>The Barriers</a:t>
            </a:r>
          </a:p>
        </p:txBody>
      </p:sp>
      <p:sp>
        <p:nvSpPr>
          <p:cNvPr id="3" name="Content Placeholder 2">
            <a:extLst>
              <a:ext uri="{FF2B5EF4-FFF2-40B4-BE49-F238E27FC236}">
                <a16:creationId xmlns:a16="http://schemas.microsoft.com/office/drawing/2014/main" id="{1ADC3451-7E78-8610-2B5E-9318C2E05151}"/>
              </a:ext>
            </a:extLst>
          </p:cNvPr>
          <p:cNvSpPr>
            <a:spLocks noGrp="1"/>
          </p:cNvSpPr>
          <p:nvPr>
            <p:ph idx="1"/>
          </p:nvPr>
        </p:nvSpPr>
        <p:spPr>
          <a:xfrm>
            <a:off x="6172200" y="804672"/>
            <a:ext cx="5221224" cy="5230368"/>
          </a:xfrm>
        </p:spPr>
        <p:txBody>
          <a:bodyPr anchor="ctr">
            <a:normAutofit/>
          </a:bodyPr>
          <a:lstStyle/>
          <a:p>
            <a:pPr marL="0" indent="0">
              <a:buNone/>
            </a:pPr>
            <a:r>
              <a:rPr lang="en-US" sz="1800" dirty="0">
                <a:solidFill>
                  <a:schemeClr val="tx2"/>
                </a:solidFill>
              </a:rPr>
              <a:t>Tom Geraghty’s article (2025) explains that organizations often struggle to adhere to a Just Culture effectively and sustainably.</a:t>
            </a:r>
          </a:p>
          <a:p>
            <a:pPr marL="0" indent="0">
              <a:buNone/>
            </a:pPr>
            <a:r>
              <a:rPr lang="en-US" sz="1800" dirty="0">
                <a:solidFill>
                  <a:schemeClr val="tx2"/>
                </a:solidFill>
              </a:rPr>
              <a:t>The first barrier is </a:t>
            </a:r>
            <a:r>
              <a:rPr lang="en-US" sz="1800" b="1" dirty="0">
                <a:solidFill>
                  <a:schemeClr val="tx2"/>
                </a:solidFill>
              </a:rPr>
              <a:t>the blame</a:t>
            </a:r>
            <a:r>
              <a:rPr lang="en-US" sz="1800" dirty="0">
                <a:solidFill>
                  <a:schemeClr val="tx2"/>
                </a:solidFill>
              </a:rPr>
              <a:t>. This is the first tendency companies have when they deal with mistakes. They need someone to take the blame to apply a punishment. The issue is that there’s no investigation into how external factors could have an impact on the mistake. There will be no learning experience coming from it, and the mistake will be replicable at a different time.</a:t>
            </a:r>
          </a:p>
        </p:txBody>
      </p:sp>
    </p:spTree>
    <p:extLst>
      <p:ext uri="{BB962C8B-B14F-4D97-AF65-F5344CB8AC3E}">
        <p14:creationId xmlns:p14="http://schemas.microsoft.com/office/powerpoint/2010/main" val="2615311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DE4BDE4-68E9-4FC0-2586-5FD445E9E927}"/>
              </a:ext>
            </a:extLst>
          </p:cNvPr>
          <p:cNvSpPr>
            <a:spLocks noGrp="1"/>
          </p:cNvSpPr>
          <p:nvPr>
            <p:ph type="title"/>
          </p:nvPr>
        </p:nvSpPr>
        <p:spPr>
          <a:xfrm>
            <a:off x="3027924" y="991261"/>
            <a:ext cx="5754696" cy="1837349"/>
          </a:xfrm>
        </p:spPr>
        <p:txBody>
          <a:bodyPr>
            <a:normAutofit/>
          </a:bodyPr>
          <a:lstStyle/>
          <a:p>
            <a:pPr algn="ctr"/>
            <a:r>
              <a:rPr lang="en-US" b="1" dirty="0">
                <a:solidFill>
                  <a:schemeClr val="tx2"/>
                </a:solidFill>
              </a:rPr>
              <a:t>The Barriers</a:t>
            </a:r>
          </a:p>
        </p:txBody>
      </p:sp>
      <p:sp>
        <p:nvSpPr>
          <p:cNvPr id="3" name="Content Placeholder 2">
            <a:extLst>
              <a:ext uri="{FF2B5EF4-FFF2-40B4-BE49-F238E27FC236}">
                <a16:creationId xmlns:a16="http://schemas.microsoft.com/office/drawing/2014/main" id="{5499CCE2-5A63-BA70-518A-E708A6D1AD12}"/>
              </a:ext>
            </a:extLst>
          </p:cNvPr>
          <p:cNvSpPr>
            <a:spLocks noGrp="1"/>
          </p:cNvSpPr>
          <p:nvPr>
            <p:ph idx="1"/>
          </p:nvPr>
        </p:nvSpPr>
        <p:spPr>
          <a:xfrm>
            <a:off x="3050412" y="2979336"/>
            <a:ext cx="5709721" cy="2430864"/>
          </a:xfrm>
        </p:spPr>
        <p:txBody>
          <a:bodyPr anchor="t">
            <a:normAutofit/>
          </a:bodyPr>
          <a:lstStyle/>
          <a:p>
            <a:pPr marL="0" indent="0">
              <a:buNone/>
            </a:pPr>
            <a:r>
              <a:rPr lang="en-US" sz="2000" dirty="0">
                <a:solidFill>
                  <a:schemeClr val="tx2"/>
                </a:solidFill>
              </a:rPr>
              <a:t>The lack of </a:t>
            </a:r>
            <a:r>
              <a:rPr lang="en-US" sz="2000" b="1" dirty="0">
                <a:solidFill>
                  <a:schemeClr val="tx2"/>
                </a:solidFill>
              </a:rPr>
              <a:t>psychological safety</a:t>
            </a:r>
            <a:r>
              <a:rPr lang="en-US" sz="2000" dirty="0">
                <a:solidFill>
                  <a:schemeClr val="tx2"/>
                </a:solidFill>
              </a:rPr>
              <a:t>. </a:t>
            </a:r>
          </a:p>
          <a:p>
            <a:pPr marL="0" indent="0">
              <a:buNone/>
            </a:pPr>
            <a:r>
              <a:rPr lang="en-US" sz="2000" dirty="0">
                <a:solidFill>
                  <a:schemeClr val="tx2"/>
                </a:solidFill>
              </a:rPr>
              <a:t>By fear of punishment, employee will avoid reporting mistakes  and they will grow in complexity as the time goes. Again, there no learning experience on how to to correct the mistake and avoid to reproduce it.</a:t>
            </a: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66318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7BDD930-0E65-490A-9CE5-554C357C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A912C67-99A1-4956-8F68-1846C217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956C-0999-CDB3-3041-C33E7CB3DD0B}"/>
              </a:ext>
            </a:extLst>
          </p:cNvPr>
          <p:cNvSpPr>
            <a:spLocks noGrp="1"/>
          </p:cNvSpPr>
          <p:nvPr>
            <p:ph type="title"/>
          </p:nvPr>
        </p:nvSpPr>
        <p:spPr>
          <a:xfrm>
            <a:off x="804672" y="457200"/>
            <a:ext cx="10579398" cy="1299411"/>
          </a:xfrm>
        </p:spPr>
        <p:txBody>
          <a:bodyPr>
            <a:normAutofit/>
          </a:bodyPr>
          <a:lstStyle/>
          <a:p>
            <a:r>
              <a:rPr lang="en-US" b="1" dirty="0">
                <a:solidFill>
                  <a:schemeClr val="tx2"/>
                </a:solidFill>
              </a:rPr>
              <a:t>The Barriers</a:t>
            </a:r>
          </a:p>
        </p:txBody>
      </p:sp>
      <p:sp>
        <p:nvSpPr>
          <p:cNvPr id="3" name="Content Placeholder 2">
            <a:extLst>
              <a:ext uri="{FF2B5EF4-FFF2-40B4-BE49-F238E27FC236}">
                <a16:creationId xmlns:a16="http://schemas.microsoft.com/office/drawing/2014/main" id="{89A81488-DC03-2E2F-190F-E611E0A8BF7C}"/>
              </a:ext>
            </a:extLst>
          </p:cNvPr>
          <p:cNvSpPr>
            <a:spLocks noGrp="1"/>
          </p:cNvSpPr>
          <p:nvPr>
            <p:ph idx="1"/>
          </p:nvPr>
        </p:nvSpPr>
        <p:spPr>
          <a:xfrm>
            <a:off x="6354871" y="2827419"/>
            <a:ext cx="5029200" cy="3227626"/>
          </a:xfrm>
        </p:spPr>
        <p:txBody>
          <a:bodyPr anchor="ctr">
            <a:normAutofit/>
          </a:bodyPr>
          <a:lstStyle/>
          <a:p>
            <a:pPr marL="0" indent="0">
              <a:buNone/>
            </a:pPr>
            <a:r>
              <a:rPr lang="en-US" sz="1700" b="1" dirty="0">
                <a:solidFill>
                  <a:schemeClr val="tx2"/>
                </a:solidFill>
              </a:rPr>
              <a:t>Leadership culture and power differences:</a:t>
            </a:r>
          </a:p>
          <a:p>
            <a:pPr marL="0" indent="0">
              <a:buNone/>
            </a:pPr>
            <a:endParaRPr lang="en-US" sz="1700" dirty="0">
              <a:solidFill>
                <a:schemeClr val="tx2"/>
              </a:solidFill>
            </a:endParaRPr>
          </a:p>
          <a:p>
            <a:pPr marL="0" indent="0">
              <a:buNone/>
            </a:pPr>
            <a:r>
              <a:rPr lang="en-US" sz="1700" dirty="0">
                <a:solidFill>
                  <a:schemeClr val="tx2"/>
                </a:solidFill>
              </a:rPr>
              <a:t>An employee confronted with strong leadership blames them for their mistakes. And “someone must be held accountable”. (Geraghty, 2025)</a:t>
            </a:r>
          </a:p>
          <a:p>
            <a:pPr marL="0" indent="0">
              <a:buNone/>
            </a:pPr>
            <a:r>
              <a:rPr lang="en-US" sz="1700" dirty="0">
                <a:solidFill>
                  <a:schemeClr val="tx2"/>
                </a:solidFill>
              </a:rPr>
              <a:t>They won’t admit that the presence of other factors. And they will keep the atmosphere of fear. </a:t>
            </a:r>
          </a:p>
          <a:p>
            <a:pPr marL="0" indent="0">
              <a:buNone/>
            </a:pPr>
            <a:r>
              <a:rPr lang="en-US" sz="1700" dirty="0">
                <a:solidFill>
                  <a:schemeClr val="tx2"/>
                </a:solidFill>
              </a:rPr>
              <a:t>That will favor the mistakes to grow as the employee won’t report them and annihilate any hope of learning from them.</a:t>
            </a:r>
          </a:p>
        </p:txBody>
      </p:sp>
      <p:grpSp>
        <p:nvGrpSpPr>
          <p:cNvPr id="14" name="Group 13">
            <a:extLst>
              <a:ext uri="{FF2B5EF4-FFF2-40B4-BE49-F238E27FC236}">
                <a16:creationId xmlns:a16="http://schemas.microsoft.com/office/drawing/2014/main" id="{569E5994-073E-4708-B3E6-43BFED0CE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5" name="Freeform: Shape 14">
              <a:extLst>
                <a:ext uri="{FF2B5EF4-FFF2-40B4-BE49-F238E27FC236}">
                  <a16:creationId xmlns:a16="http://schemas.microsoft.com/office/drawing/2014/main" id="{532F818D-9087-4691-AABA-465619A0C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8B7668A-5C96-4FB9-BFA9-38094EB87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BF4F95BD-8661-4C45-94E3-CF3159BF4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85BBF8A-E2FB-47F6-A60F-4FB855D50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Connections">
            <a:extLst>
              <a:ext uri="{FF2B5EF4-FFF2-40B4-BE49-F238E27FC236}">
                <a16:creationId xmlns:a16="http://schemas.microsoft.com/office/drawing/2014/main" id="{FBAA4ED4-F2F8-F536-E00F-FB20192954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73351" y="2837712"/>
            <a:ext cx="3217333" cy="3217333"/>
          </a:xfrm>
          <a:prstGeom prst="rect">
            <a:avLst/>
          </a:prstGeom>
        </p:spPr>
      </p:pic>
      <p:grpSp>
        <p:nvGrpSpPr>
          <p:cNvPr id="20" name="Group 19">
            <a:extLst>
              <a:ext uri="{FF2B5EF4-FFF2-40B4-BE49-F238E27FC236}">
                <a16:creationId xmlns:a16="http://schemas.microsoft.com/office/drawing/2014/main" id="{DD81D498-EAA8-40F3-8230-AE4DEDA38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1" name="Freeform: Shape 20">
              <a:extLst>
                <a:ext uri="{FF2B5EF4-FFF2-40B4-BE49-F238E27FC236}">
                  <a16:creationId xmlns:a16="http://schemas.microsoft.com/office/drawing/2014/main" id="{262F2402-5879-41A3-ACEC-6D2811BA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BBD41895-A230-4959-97BA-80F516383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E670BD54-10A6-4092-9E32-647B2F87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1C2B9A82-4826-4BF4-A16E-0B005FE7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4630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0FA090-EFF3-E656-94FC-5F56B33E70F4}"/>
              </a:ext>
            </a:extLst>
          </p:cNvPr>
          <p:cNvSpPr>
            <a:spLocks noGrp="1"/>
          </p:cNvSpPr>
          <p:nvPr>
            <p:ph type="title"/>
          </p:nvPr>
        </p:nvSpPr>
        <p:spPr>
          <a:xfrm>
            <a:off x="804672" y="802955"/>
            <a:ext cx="4977976" cy="1454051"/>
          </a:xfrm>
        </p:spPr>
        <p:txBody>
          <a:bodyPr>
            <a:normAutofit/>
          </a:bodyPr>
          <a:lstStyle/>
          <a:p>
            <a:r>
              <a:rPr lang="en-US" sz="3600" b="1">
                <a:solidFill>
                  <a:schemeClr val="tx2"/>
                </a:solidFill>
              </a:rPr>
              <a:t>The Barriers</a:t>
            </a:r>
            <a:endParaRPr lang="en-US" sz="3600">
              <a:solidFill>
                <a:schemeClr val="tx2"/>
              </a:solidFill>
            </a:endParaRPr>
          </a:p>
        </p:txBody>
      </p:sp>
      <p:sp>
        <p:nvSpPr>
          <p:cNvPr id="3" name="Content Placeholder 2">
            <a:extLst>
              <a:ext uri="{FF2B5EF4-FFF2-40B4-BE49-F238E27FC236}">
                <a16:creationId xmlns:a16="http://schemas.microsoft.com/office/drawing/2014/main" id="{19BB76E5-A173-3224-407D-FAE682642B46}"/>
              </a:ext>
            </a:extLst>
          </p:cNvPr>
          <p:cNvSpPr>
            <a:spLocks noGrp="1"/>
          </p:cNvSpPr>
          <p:nvPr>
            <p:ph idx="1"/>
          </p:nvPr>
        </p:nvSpPr>
        <p:spPr>
          <a:xfrm>
            <a:off x="804672" y="2421682"/>
            <a:ext cx="4977578" cy="3639289"/>
          </a:xfrm>
        </p:spPr>
        <p:txBody>
          <a:bodyPr anchor="ctr">
            <a:normAutofit/>
          </a:bodyPr>
          <a:lstStyle/>
          <a:p>
            <a:pPr marL="0" indent="0">
              <a:buNone/>
            </a:pPr>
            <a:r>
              <a:rPr lang="en-US" sz="1800" dirty="0">
                <a:solidFill>
                  <a:schemeClr val="tx2"/>
                </a:solidFill>
              </a:rPr>
              <a:t> Legal and media pressure can also be difficulties as organizations will look someone to blame to avoid responsibilities that may be embedded in the structure.</a:t>
            </a:r>
          </a:p>
          <a:p>
            <a:pPr marL="0" indent="0">
              <a:buNone/>
            </a:pPr>
            <a:endParaRPr lang="en-US" sz="1800" dirty="0">
              <a:solidFill>
                <a:schemeClr val="tx2"/>
              </a:solidFill>
            </a:endParaRPr>
          </a:p>
          <a:p>
            <a:pPr marL="0" indent="0">
              <a:buNone/>
            </a:pPr>
            <a:r>
              <a:rPr lang="en-US" sz="1800" dirty="0">
                <a:solidFill>
                  <a:schemeClr val="tx2"/>
                </a:solidFill>
              </a:rPr>
              <a:t>And if a company has tried to implement Just Culture and failed. It because it requires a complete change of behavior and dive into the systems  and practices to get some results. </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Group">
            <a:extLst>
              <a:ext uri="{FF2B5EF4-FFF2-40B4-BE49-F238E27FC236}">
                <a16:creationId xmlns:a16="http://schemas.microsoft.com/office/drawing/2014/main" id="{AB290946-563B-5639-F4EF-B3DA81B9B6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53067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10650BA-D090-4A23-98E3-B48BBAEA9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6688DFB-1101-2BB9-3C78-29C112120738}"/>
              </a:ext>
            </a:extLst>
          </p:cNvPr>
          <p:cNvPicPr>
            <a:picLocks noChangeAspect="1"/>
          </p:cNvPicPr>
          <p:nvPr/>
        </p:nvPicPr>
        <p:blipFill>
          <a:blip r:embed="rId2"/>
          <a:srcRect l="31591" r="10166" b="2"/>
          <a:stretch>
            <a:fillRect/>
          </a:stretch>
        </p:blipFill>
        <p:spPr>
          <a:xfrm>
            <a:off x="994" y="-8594"/>
            <a:ext cx="5846165" cy="6850548"/>
          </a:xfrm>
          <a:prstGeom prst="rect">
            <a:avLst/>
          </a:prstGeom>
        </p:spPr>
      </p:pic>
      <p:grpSp>
        <p:nvGrpSpPr>
          <p:cNvPr id="19" name="Group 18">
            <a:extLst>
              <a:ext uri="{FF2B5EF4-FFF2-40B4-BE49-F238E27FC236}">
                <a16:creationId xmlns:a16="http://schemas.microsoft.com/office/drawing/2014/main" id="{FFB939B9-73CE-4644-87BB-72AEBF001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27" y="-6558"/>
            <a:ext cx="6254832" cy="6874766"/>
            <a:chOff x="-9149" y="3725"/>
            <a:chExt cx="6254832" cy="6887203"/>
          </a:xfrm>
        </p:grpSpPr>
        <p:sp>
          <p:nvSpPr>
            <p:cNvPr id="20" name="Freeform: Shape 19">
              <a:extLst>
                <a:ext uri="{FF2B5EF4-FFF2-40B4-BE49-F238E27FC236}">
                  <a16:creationId xmlns:a16="http://schemas.microsoft.com/office/drawing/2014/main" id="{15F2A0CF-7879-4629-AC2B-4069D77A3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8645"/>
              <a:ext cx="5933139" cy="6387893"/>
            </a:xfrm>
            <a:custGeom>
              <a:avLst/>
              <a:gdLst>
                <a:gd name="connsiteX0" fmla="*/ 5852909 w 5933139"/>
                <a:gd name="connsiteY0" fmla="*/ 2469528 h 6335678"/>
                <a:gd name="connsiteX1" fmla="*/ 5830799 w 5933139"/>
                <a:gd name="connsiteY1" fmla="*/ 2394015 h 6335678"/>
                <a:gd name="connsiteX2" fmla="*/ 5805878 w 5933139"/>
                <a:gd name="connsiteY2" fmla="*/ 2319439 h 6335678"/>
                <a:gd name="connsiteX3" fmla="*/ 5778708 w 5933139"/>
                <a:gd name="connsiteY3" fmla="*/ 2245800 h 6335678"/>
                <a:gd name="connsiteX4" fmla="*/ 5652978 w 5933139"/>
                <a:gd name="connsiteY4" fmla="*/ 1959675 h 6335678"/>
                <a:gd name="connsiteX5" fmla="*/ 5327691 w 5933139"/>
                <a:gd name="connsiteY5" fmla="*/ 1432958 h 6335678"/>
                <a:gd name="connsiteX6" fmla="*/ 4921458 w 5933139"/>
                <a:gd name="connsiteY6" fmla="*/ 973322 h 6335678"/>
                <a:gd name="connsiteX7" fmla="*/ 4450018 w 5933139"/>
                <a:gd name="connsiteY7" fmla="*/ 586764 h 6335678"/>
                <a:gd name="connsiteX8" fmla="*/ 4193311 w 5933139"/>
                <a:gd name="connsiteY8" fmla="*/ 423558 h 6335678"/>
                <a:gd name="connsiteX9" fmla="*/ 3924237 w 5933139"/>
                <a:gd name="connsiteY9" fmla="*/ 281901 h 6335678"/>
                <a:gd name="connsiteX10" fmla="*/ 3352175 w 5933139"/>
                <a:gd name="connsiteY10" fmla="*/ 75786 h 6335678"/>
                <a:gd name="connsiteX11" fmla="*/ 3051997 w 5933139"/>
                <a:gd name="connsiteY11" fmla="*/ 19011 h 6335678"/>
                <a:gd name="connsiteX12" fmla="*/ 2745823 w 5933139"/>
                <a:gd name="connsiteY12" fmla="*/ 86 h 6335678"/>
                <a:gd name="connsiteX13" fmla="*/ 2141720 w 5933139"/>
                <a:gd name="connsiteY13" fmla="*/ 55550 h 6335678"/>
                <a:gd name="connsiteX14" fmla="*/ 1551295 w 5933139"/>
                <a:gd name="connsiteY14" fmla="*/ 216319 h 6335678"/>
                <a:gd name="connsiteX15" fmla="*/ 1001718 w 5933139"/>
                <a:gd name="connsiteY15" fmla="*/ 498134 h 6335678"/>
                <a:gd name="connsiteX16" fmla="*/ 754755 w 5933139"/>
                <a:gd name="connsiteY16" fmla="*/ 685886 h 6335678"/>
                <a:gd name="connsiteX17" fmla="*/ 533462 w 5933139"/>
                <a:gd name="connsiteY17" fmla="*/ 903056 h 6335678"/>
                <a:gd name="connsiteX18" fmla="*/ 0 w 5933139"/>
                <a:gd name="connsiteY18" fmla="*/ 1646568 h 6335678"/>
                <a:gd name="connsiteX19" fmla="*/ 0 w 5933139"/>
                <a:gd name="connsiteY19" fmla="*/ 4709059 h 6335678"/>
                <a:gd name="connsiteX20" fmla="*/ 120671 w 5933139"/>
                <a:gd name="connsiteY20" fmla="*/ 4907491 h 6335678"/>
                <a:gd name="connsiteX21" fmla="*/ 507979 w 5933139"/>
                <a:gd name="connsiteY21" fmla="*/ 5384178 h 6335678"/>
                <a:gd name="connsiteX22" fmla="*/ 972112 w 5933139"/>
                <a:gd name="connsiteY22" fmla="*/ 5778607 h 6335678"/>
                <a:gd name="connsiteX23" fmla="*/ 1229943 w 5933139"/>
                <a:gd name="connsiteY23" fmla="*/ 5939939 h 6335678"/>
                <a:gd name="connsiteX24" fmla="*/ 1502389 w 5933139"/>
                <a:gd name="connsiteY24" fmla="*/ 6073913 h 6335678"/>
                <a:gd name="connsiteX25" fmla="*/ 2673870 w 5933139"/>
                <a:gd name="connsiteY25" fmla="*/ 6333993 h 6335678"/>
                <a:gd name="connsiteX26" fmla="*/ 2749196 w 5933139"/>
                <a:gd name="connsiteY26" fmla="*/ 6335679 h 6335678"/>
                <a:gd name="connsiteX27" fmla="*/ 2787983 w 5933139"/>
                <a:gd name="connsiteY27" fmla="*/ 6335492 h 6335678"/>
                <a:gd name="connsiteX28" fmla="*/ 2826770 w 5933139"/>
                <a:gd name="connsiteY28" fmla="*/ 6334368 h 6335678"/>
                <a:gd name="connsiteX29" fmla="*/ 2981918 w 5933139"/>
                <a:gd name="connsiteY29" fmla="*/ 6319939 h 6335678"/>
                <a:gd name="connsiteX30" fmla="*/ 3285282 w 5933139"/>
                <a:gd name="connsiteY30" fmla="*/ 6241803 h 6335678"/>
                <a:gd name="connsiteX31" fmla="*/ 3566347 w 5933139"/>
                <a:gd name="connsiteY31" fmla="*/ 6104831 h 6335678"/>
                <a:gd name="connsiteX32" fmla="*/ 3818369 w 5933139"/>
                <a:gd name="connsiteY32" fmla="*/ 5926823 h 6335678"/>
                <a:gd name="connsiteX33" fmla="*/ 4044908 w 5933139"/>
                <a:gd name="connsiteY33" fmla="*/ 5726329 h 6335678"/>
                <a:gd name="connsiteX34" fmla="*/ 4151151 w 5933139"/>
                <a:gd name="connsiteY34" fmla="*/ 5622147 h 6335678"/>
                <a:gd name="connsiteX35" fmla="*/ 4253834 w 5933139"/>
                <a:gd name="connsiteY35" fmla="*/ 5516841 h 6335678"/>
                <a:gd name="connsiteX36" fmla="*/ 4452453 w 5933139"/>
                <a:gd name="connsiteY36" fmla="*/ 5306979 h 6335678"/>
                <a:gd name="connsiteX37" fmla="*/ 4548578 w 5933139"/>
                <a:gd name="connsiteY37" fmla="*/ 5202797 h 6335678"/>
                <a:gd name="connsiteX38" fmla="*/ 4596546 w 5933139"/>
                <a:gd name="connsiteY38" fmla="*/ 5151456 h 6335678"/>
                <a:gd name="connsiteX39" fmla="*/ 4643016 w 5933139"/>
                <a:gd name="connsiteY39" fmla="*/ 5103300 h 6335678"/>
                <a:gd name="connsiteX40" fmla="*/ 4739515 w 5933139"/>
                <a:gd name="connsiteY40" fmla="*/ 5013172 h 6335678"/>
                <a:gd name="connsiteX41" fmla="*/ 4842198 w 5933139"/>
                <a:gd name="connsiteY41" fmla="*/ 4930164 h 6335678"/>
                <a:gd name="connsiteX42" fmla="*/ 5071360 w 5933139"/>
                <a:gd name="connsiteY42" fmla="*/ 4780449 h 6335678"/>
                <a:gd name="connsiteX43" fmla="*/ 5332001 w 5933139"/>
                <a:gd name="connsiteY43" fmla="*/ 4615932 h 6335678"/>
                <a:gd name="connsiteX44" fmla="*/ 5397396 w 5933139"/>
                <a:gd name="connsiteY44" fmla="*/ 4563655 h 6335678"/>
                <a:gd name="connsiteX45" fmla="*/ 5459417 w 5933139"/>
                <a:gd name="connsiteY45" fmla="*/ 4505380 h 6335678"/>
                <a:gd name="connsiteX46" fmla="*/ 5567159 w 5933139"/>
                <a:gd name="connsiteY46" fmla="*/ 4374029 h 6335678"/>
                <a:gd name="connsiteX47" fmla="*/ 5651292 w 5933139"/>
                <a:gd name="connsiteY47" fmla="*/ 4231810 h 6335678"/>
                <a:gd name="connsiteX48" fmla="*/ 5716686 w 5933139"/>
                <a:gd name="connsiteY48" fmla="*/ 4085655 h 6335678"/>
                <a:gd name="connsiteX49" fmla="*/ 5820681 w 5933139"/>
                <a:gd name="connsiteY49" fmla="*/ 3791848 h 6335678"/>
                <a:gd name="connsiteX50" fmla="*/ 5898629 w 5933139"/>
                <a:gd name="connsiteY50" fmla="*/ 3487922 h 6335678"/>
                <a:gd name="connsiteX51" fmla="*/ 5932170 w 5933139"/>
                <a:gd name="connsiteY51" fmla="*/ 3174066 h 6335678"/>
                <a:gd name="connsiteX52" fmla="*/ 5872209 w 5933139"/>
                <a:gd name="connsiteY52" fmla="*/ 2545978 h 6335678"/>
                <a:gd name="connsiteX53" fmla="*/ 5852909 w 5933139"/>
                <a:gd name="connsiteY53" fmla="*/ 2469528 h 6335678"/>
                <a:gd name="connsiteX54" fmla="*/ 5507386 w 5933139"/>
                <a:gd name="connsiteY54" fmla="*/ 3724580 h 6335678"/>
                <a:gd name="connsiteX55" fmla="*/ 5453609 w 5933139"/>
                <a:gd name="connsiteY55" fmla="*/ 3989906 h 6335678"/>
                <a:gd name="connsiteX56" fmla="*/ 5344181 w 5933139"/>
                <a:gd name="connsiteY56" fmla="*/ 4220380 h 6335678"/>
                <a:gd name="connsiteX57" fmla="*/ 5171419 w 5933139"/>
                <a:gd name="connsiteY57" fmla="*/ 4388644 h 6335678"/>
                <a:gd name="connsiteX58" fmla="*/ 5057868 w 5933139"/>
                <a:gd name="connsiteY58" fmla="*/ 4453851 h 6335678"/>
                <a:gd name="connsiteX59" fmla="*/ 4930265 w 5933139"/>
                <a:gd name="connsiteY59" fmla="*/ 4516810 h 6335678"/>
                <a:gd name="connsiteX60" fmla="*/ 4660067 w 5933139"/>
                <a:gd name="connsiteY60" fmla="*/ 4664276 h 6335678"/>
                <a:gd name="connsiteX61" fmla="*/ 4408794 w 5933139"/>
                <a:gd name="connsiteY61" fmla="*/ 4857836 h 6335678"/>
                <a:gd name="connsiteX62" fmla="*/ 4352207 w 5933139"/>
                <a:gd name="connsiteY62" fmla="*/ 4911988 h 6335678"/>
                <a:gd name="connsiteX63" fmla="*/ 4299366 w 5933139"/>
                <a:gd name="connsiteY63" fmla="*/ 4965390 h 6335678"/>
                <a:gd name="connsiteX64" fmla="*/ 4197621 w 5933139"/>
                <a:gd name="connsiteY64" fmla="*/ 5074257 h 6335678"/>
                <a:gd name="connsiteX65" fmla="*/ 4008744 w 5933139"/>
                <a:gd name="connsiteY65" fmla="*/ 5297985 h 6335678"/>
                <a:gd name="connsiteX66" fmla="*/ 3917304 w 5933139"/>
                <a:gd name="connsiteY66" fmla="*/ 5409100 h 6335678"/>
                <a:gd name="connsiteX67" fmla="*/ 3826052 w 5933139"/>
                <a:gd name="connsiteY67" fmla="*/ 5518153 h 6335678"/>
                <a:gd name="connsiteX68" fmla="*/ 3637925 w 5933139"/>
                <a:gd name="connsiteY68" fmla="*/ 5725017 h 6335678"/>
                <a:gd name="connsiteX69" fmla="*/ 3433497 w 5933139"/>
                <a:gd name="connsiteY69" fmla="*/ 5906586 h 6335678"/>
                <a:gd name="connsiteX70" fmla="*/ 3204522 w 5933139"/>
                <a:gd name="connsiteY70" fmla="*/ 6046744 h 6335678"/>
                <a:gd name="connsiteX71" fmla="*/ 2950439 w 5933139"/>
                <a:gd name="connsiteY71" fmla="*/ 6129190 h 6335678"/>
                <a:gd name="connsiteX72" fmla="*/ 2816839 w 5933139"/>
                <a:gd name="connsiteY72" fmla="*/ 6146428 h 6335678"/>
                <a:gd name="connsiteX73" fmla="*/ 2749009 w 5933139"/>
                <a:gd name="connsiteY73" fmla="*/ 6149051 h 6335678"/>
                <a:gd name="connsiteX74" fmla="*/ 2678930 w 5933139"/>
                <a:gd name="connsiteY74" fmla="*/ 6148677 h 6335678"/>
                <a:gd name="connsiteX75" fmla="*/ 2125793 w 5933139"/>
                <a:gd name="connsiteY75" fmla="*/ 6065481 h 6335678"/>
                <a:gd name="connsiteX76" fmla="*/ 1610506 w 5933139"/>
                <a:gd name="connsiteY76" fmla="*/ 5851310 h 6335678"/>
                <a:gd name="connsiteX77" fmla="*/ 1373099 w 5933139"/>
                <a:gd name="connsiteY77" fmla="*/ 5706279 h 6335678"/>
                <a:gd name="connsiteX78" fmla="*/ 1315949 w 5933139"/>
                <a:gd name="connsiteY78" fmla="*/ 5666743 h 6335678"/>
                <a:gd name="connsiteX79" fmla="*/ 1259923 w 5933139"/>
                <a:gd name="connsiteY79" fmla="*/ 5625894 h 6335678"/>
                <a:gd name="connsiteX80" fmla="*/ 1204647 w 5933139"/>
                <a:gd name="connsiteY80" fmla="*/ 5583922 h 6335678"/>
                <a:gd name="connsiteX81" fmla="*/ 1150308 w 5933139"/>
                <a:gd name="connsiteY81" fmla="*/ 5540826 h 6335678"/>
                <a:gd name="connsiteX82" fmla="*/ 751569 w 5933139"/>
                <a:gd name="connsiteY82" fmla="*/ 5158015 h 6335678"/>
                <a:gd name="connsiteX83" fmla="*/ 663315 w 5933139"/>
                <a:gd name="connsiteY83" fmla="*/ 5052146 h 6335678"/>
                <a:gd name="connsiteX84" fmla="*/ 580869 w 5933139"/>
                <a:gd name="connsiteY84" fmla="*/ 4942718 h 6335678"/>
                <a:gd name="connsiteX85" fmla="*/ 432279 w 5933139"/>
                <a:gd name="connsiteY85" fmla="*/ 4713369 h 6335678"/>
                <a:gd name="connsiteX86" fmla="*/ 205553 w 5933139"/>
                <a:gd name="connsiteY86" fmla="*/ 4219443 h 6335678"/>
                <a:gd name="connsiteX87" fmla="*/ 79448 w 5933139"/>
                <a:gd name="connsiteY87" fmla="*/ 3693850 h 6335678"/>
                <a:gd name="connsiteX88" fmla="*/ 53590 w 5933139"/>
                <a:gd name="connsiteY88" fmla="*/ 3425339 h 6335678"/>
                <a:gd name="connsiteX89" fmla="*/ 49655 w 5933139"/>
                <a:gd name="connsiteY89" fmla="*/ 3155890 h 6335678"/>
                <a:gd name="connsiteX90" fmla="*/ 67830 w 5933139"/>
                <a:gd name="connsiteY90" fmla="*/ 2886817 h 6335678"/>
                <a:gd name="connsiteX91" fmla="*/ 108679 w 5933139"/>
                <a:gd name="connsiteY91" fmla="*/ 2619992 h 6335678"/>
                <a:gd name="connsiteX92" fmla="*/ 263077 w 5933139"/>
                <a:gd name="connsiteY92" fmla="*/ 2101520 h 6335678"/>
                <a:gd name="connsiteX93" fmla="*/ 837575 w 5933139"/>
                <a:gd name="connsiteY93" fmla="*/ 1186370 h 6335678"/>
                <a:gd name="connsiteX94" fmla="*/ 1031698 w 5933139"/>
                <a:gd name="connsiteY94" fmla="*/ 996932 h 6335678"/>
                <a:gd name="connsiteX95" fmla="*/ 1236688 w 5933139"/>
                <a:gd name="connsiteY95" fmla="*/ 819298 h 6335678"/>
                <a:gd name="connsiteX96" fmla="*/ 1687143 w 5933139"/>
                <a:gd name="connsiteY96" fmla="*/ 511438 h 6335678"/>
                <a:gd name="connsiteX97" fmla="*/ 2196246 w 5933139"/>
                <a:gd name="connsiteY97" fmla="*/ 300639 h 6335678"/>
                <a:gd name="connsiteX98" fmla="*/ 2745823 w 5933139"/>
                <a:gd name="connsiteY98" fmla="*/ 229248 h 6335678"/>
                <a:gd name="connsiteX99" fmla="*/ 3019206 w 5933139"/>
                <a:gd name="connsiteY99" fmla="*/ 252108 h 6335678"/>
                <a:gd name="connsiteX100" fmla="*/ 3288092 w 5933139"/>
                <a:gd name="connsiteY100" fmla="*/ 313006 h 6335678"/>
                <a:gd name="connsiteX101" fmla="*/ 3548172 w 5933139"/>
                <a:gd name="connsiteY101" fmla="*/ 407069 h 6335678"/>
                <a:gd name="connsiteX102" fmla="*/ 3611505 w 5933139"/>
                <a:gd name="connsiteY102" fmla="*/ 435176 h 6335678"/>
                <a:gd name="connsiteX103" fmla="*/ 3674089 w 5933139"/>
                <a:gd name="connsiteY103" fmla="*/ 464968 h 6335678"/>
                <a:gd name="connsiteX104" fmla="*/ 3735736 w 5933139"/>
                <a:gd name="connsiteY104" fmla="*/ 496823 h 6335678"/>
                <a:gd name="connsiteX105" fmla="*/ 3796634 w 5933139"/>
                <a:gd name="connsiteY105" fmla="*/ 530176 h 6335678"/>
                <a:gd name="connsiteX106" fmla="*/ 4251585 w 5933139"/>
                <a:gd name="connsiteY106" fmla="*/ 847405 h 6335678"/>
                <a:gd name="connsiteX107" fmla="*/ 4644515 w 5933139"/>
                <a:gd name="connsiteY107" fmla="*/ 1236775 h 6335678"/>
                <a:gd name="connsiteX108" fmla="*/ 4816527 w 5933139"/>
                <a:gd name="connsiteY108" fmla="*/ 1451883 h 6335678"/>
                <a:gd name="connsiteX109" fmla="*/ 4970738 w 5933139"/>
                <a:gd name="connsiteY109" fmla="*/ 1678610 h 6335678"/>
                <a:gd name="connsiteX110" fmla="*/ 5223885 w 5933139"/>
                <a:gd name="connsiteY110" fmla="*/ 2159232 h 6335678"/>
                <a:gd name="connsiteX111" fmla="*/ 5395709 w 5933139"/>
                <a:gd name="connsiteY111" fmla="*/ 2666087 h 6335678"/>
                <a:gd name="connsiteX112" fmla="*/ 5458855 w 5933139"/>
                <a:gd name="connsiteY112" fmla="*/ 2924292 h 6335678"/>
                <a:gd name="connsiteX113" fmla="*/ 5499142 w 5933139"/>
                <a:gd name="connsiteY113" fmla="*/ 3186995 h 6335678"/>
                <a:gd name="connsiteX114" fmla="*/ 5516755 w 5933139"/>
                <a:gd name="connsiteY114" fmla="*/ 3454007 h 6335678"/>
                <a:gd name="connsiteX115" fmla="*/ 5507386 w 5933139"/>
                <a:gd name="connsiteY115" fmla="*/ 3724580 h 63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933139" h="6335678">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bg1">
                <a:alpha val="30000"/>
              </a:schemeClr>
            </a:solidFill>
            <a:ln w="18736"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7E50BFD-51AC-4ACE-820C-A285E6672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41478"/>
              <a:ext cx="5953893" cy="6434152"/>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317011 w 5953893"/>
                <a:gd name="connsiteY8" fmla="*/ 3797009 h 6434152"/>
                <a:gd name="connsiteX9" fmla="*/ 5176478 w 5953893"/>
                <a:gd name="connsiteY9" fmla="*/ 4100747 h 6434152"/>
                <a:gd name="connsiteX10" fmla="*/ 4942257 w 5953893"/>
                <a:gd name="connsiteY10" fmla="*/ 4250274 h 6434152"/>
                <a:gd name="connsiteX11" fmla="*/ 4216171 w 5953893"/>
                <a:gd name="connsiteY11" fmla="*/ 4773243 h 6434152"/>
                <a:gd name="connsiteX12" fmla="*/ 3905125 w 5953893"/>
                <a:gd name="connsiteY12" fmla="*/ 5105837 h 6434152"/>
                <a:gd name="connsiteX13" fmla="*/ 3308329 w 5953893"/>
                <a:gd name="connsiteY13" fmla="*/ 5682022 h 6434152"/>
                <a:gd name="connsiteX14" fmla="*/ 2739452 w 5953893"/>
                <a:gd name="connsiteY14" fmla="*/ 5870898 h 6434152"/>
                <a:gd name="connsiteX15" fmla="*/ 1647419 w 5953893"/>
                <a:gd name="connsiteY15" fmla="*/ 5625809 h 6434152"/>
                <a:gd name="connsiteX16" fmla="*/ 781175 w 5953893"/>
                <a:gd name="connsiteY16" fmla="*/ 4960620 h 6434152"/>
                <a:gd name="connsiteX17" fmla="*/ 312545 w 5953893"/>
                <a:gd name="connsiteY17" fmla="*/ 4165205 h 6434152"/>
                <a:gd name="connsiteX18" fmla="*/ 142032 w 5953893"/>
                <a:gd name="connsiteY18" fmla="*/ 3217451 h 6434152"/>
                <a:gd name="connsiteX19" fmla="*/ 347210 w 5953893"/>
                <a:gd name="connsiteY19" fmla="*/ 2181444 h 6434152"/>
                <a:gd name="connsiteX20" fmla="*/ 906155 w 5953893"/>
                <a:gd name="connsiteY20" fmla="*/ 1337497 h 6434152"/>
                <a:gd name="connsiteX21" fmla="*/ 2739265 w 5953893"/>
                <a:gd name="connsiteY21" fmla="*/ 563818 h 6434152"/>
                <a:gd name="connsiteX22" fmla="*/ 3849849 w 5953893"/>
                <a:gd name="connsiteY22" fmla="*/ 881796 h 6434152"/>
                <a:gd name="connsiteX23" fmla="*/ 4834515 w 5953893"/>
                <a:gd name="connsiteY23" fmla="*/ 1742419 h 6434152"/>
                <a:gd name="connsiteX24" fmla="*/ 5325256 w 5953893"/>
                <a:gd name="connsiteY24" fmla="*/ 2742076 h 6434152"/>
                <a:gd name="connsiteX25" fmla="*/ 5317011 w 5953893"/>
                <a:gd name="connsiteY25" fmla="*/ 3797009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bg1">
                <a:alpha val="30000"/>
              </a:schemeClr>
            </a:solidFill>
            <a:ln w="1873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0394888-C50F-41C1-92D4-0E2B4315A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1462"/>
              <a:ext cx="5953893" cy="6444167"/>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208520 w 5953893"/>
                <a:gd name="connsiteY8" fmla="*/ 3766654 h 6434152"/>
                <a:gd name="connsiteX9" fmla="*/ 5094782 w 5953893"/>
                <a:gd name="connsiteY9" fmla="*/ 4022985 h 6434152"/>
                <a:gd name="connsiteX10" fmla="*/ 4888855 w 5953893"/>
                <a:gd name="connsiteY10" fmla="*/ 4150777 h 6434152"/>
                <a:gd name="connsiteX11" fmla="*/ 4135411 w 5953893"/>
                <a:gd name="connsiteY11" fmla="*/ 4694170 h 6434152"/>
                <a:gd name="connsiteX12" fmla="*/ 3821555 w 5953893"/>
                <a:gd name="connsiteY12" fmla="*/ 5029762 h 6434152"/>
                <a:gd name="connsiteX13" fmla="*/ 2739265 w 5953893"/>
                <a:gd name="connsiteY13" fmla="*/ 5758097 h 6434152"/>
                <a:gd name="connsiteX14" fmla="*/ 1695575 w 5953893"/>
                <a:gd name="connsiteY14" fmla="*/ 5523876 h 6434152"/>
                <a:gd name="connsiteX15" fmla="*/ 866619 w 5953893"/>
                <a:gd name="connsiteY15" fmla="*/ 4887356 h 6434152"/>
                <a:gd name="connsiteX16" fmla="*/ 417851 w 5953893"/>
                <a:gd name="connsiteY16" fmla="*/ 4125481 h 6434152"/>
                <a:gd name="connsiteX17" fmla="*/ 254645 w 5953893"/>
                <a:gd name="connsiteY17" fmla="*/ 3217264 h 6434152"/>
                <a:gd name="connsiteX18" fmla="*/ 451204 w 5953893"/>
                <a:gd name="connsiteY18" fmla="*/ 2224540 h 6434152"/>
                <a:gd name="connsiteX19" fmla="*/ 986540 w 5953893"/>
                <a:gd name="connsiteY19" fmla="*/ 1416383 h 6434152"/>
                <a:gd name="connsiteX20" fmla="*/ 2739452 w 5953893"/>
                <a:gd name="connsiteY20" fmla="*/ 676244 h 6434152"/>
                <a:gd name="connsiteX21" fmla="*/ 3794947 w 5953893"/>
                <a:gd name="connsiteY21" fmla="*/ 979795 h 6434152"/>
                <a:gd name="connsiteX22" fmla="*/ 4744762 w 5953893"/>
                <a:gd name="connsiteY22" fmla="*/ 1810250 h 6434152"/>
                <a:gd name="connsiteX23" fmla="*/ 5215827 w 5953893"/>
                <a:gd name="connsiteY23" fmla="*/ 2768871 h 6434152"/>
                <a:gd name="connsiteX24" fmla="*/ 5208520 w 5953893"/>
                <a:gd name="connsiteY24" fmla="*/ 3766654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bg1">
                <a:alpha val="30000"/>
              </a:schemeClr>
            </a:solidFill>
            <a:ln w="18736" cap="flat">
              <a:noFill/>
              <a:prstDash val="solid"/>
              <a:miter/>
            </a:ln>
          </p:spPr>
          <p:txBody>
            <a:bodyPr rtlCol="0" anchor="ctr"/>
            <a:lstStyle/>
            <a:p>
              <a:endParaRPr lang="en-US" dirty="0"/>
            </a:p>
          </p:txBody>
        </p:sp>
        <p:sp useBgFill="1">
          <p:nvSpPr>
            <p:cNvPr id="23" name="Freeform: Shape 22">
              <a:extLst>
                <a:ext uri="{FF2B5EF4-FFF2-40B4-BE49-F238E27FC236}">
                  <a16:creationId xmlns:a16="http://schemas.microsoft.com/office/drawing/2014/main" id="{F22C906F-48B7-4ABF-B36E-0C0A056A5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3725"/>
              <a:ext cx="5855313" cy="6880645"/>
            </a:xfrm>
            <a:custGeom>
              <a:avLst/>
              <a:gdLst>
                <a:gd name="connsiteX0" fmla="*/ 5855313 w 5855313"/>
                <a:gd name="connsiteY0" fmla="*/ 4717843 h 6880645"/>
                <a:gd name="connsiteX1" fmla="*/ 5855313 w 5855313"/>
                <a:gd name="connsiteY1" fmla="*/ 6880645 h 6880645"/>
                <a:gd name="connsiteX2" fmla="*/ 0 w 5855313"/>
                <a:gd name="connsiteY2" fmla="*/ 6880645 h 6880645"/>
                <a:gd name="connsiteX3" fmla="*/ 0 w 5855313"/>
                <a:gd name="connsiteY3" fmla="*/ 5268859 h 6880645"/>
                <a:gd name="connsiteX4" fmla="*/ 36130 w 5855313"/>
                <a:gd name="connsiteY4" fmla="*/ 5327430 h 6880645"/>
                <a:gd name="connsiteX5" fmla="*/ 2782721 w 5855313"/>
                <a:gd name="connsiteY5" fmla="*/ 6765687 h 6880645"/>
                <a:gd name="connsiteX6" fmla="*/ 5834702 w 5855313"/>
                <a:gd name="connsiteY6" fmla="*/ 4773305 h 6880645"/>
                <a:gd name="connsiteX7" fmla="*/ 9148 w 5855313"/>
                <a:gd name="connsiteY7" fmla="*/ 0 h 6880645"/>
                <a:gd name="connsiteX8" fmla="*/ 5855312 w 5855313"/>
                <a:gd name="connsiteY8" fmla="*/ 0 h 6880645"/>
                <a:gd name="connsiteX9" fmla="*/ 5855312 w 5855313"/>
                <a:gd name="connsiteY9" fmla="*/ 96759 h 6880645"/>
                <a:gd name="connsiteX10" fmla="*/ 5855313 w 5855313"/>
                <a:gd name="connsiteY10" fmla="*/ 96759 h 6880645"/>
                <a:gd name="connsiteX11" fmla="*/ 5855313 w 5855313"/>
                <a:gd name="connsiteY11" fmla="*/ 2289203 h 6880645"/>
                <a:gd name="connsiteX12" fmla="*/ 5834702 w 5855313"/>
                <a:gd name="connsiteY12" fmla="*/ 2233742 h 6880645"/>
                <a:gd name="connsiteX13" fmla="*/ 2782721 w 5855313"/>
                <a:gd name="connsiteY13" fmla="*/ 241359 h 6880645"/>
                <a:gd name="connsiteX14" fmla="*/ 36130 w 5855313"/>
                <a:gd name="connsiteY14" fmla="*/ 1679616 h 6880645"/>
                <a:gd name="connsiteX15" fmla="*/ 0 w 5855313"/>
                <a:gd name="connsiteY15" fmla="*/ 1738187 h 6880645"/>
                <a:gd name="connsiteX16" fmla="*/ 0 w 5855313"/>
                <a:gd name="connsiteY16" fmla="*/ 96759 h 6880645"/>
                <a:gd name="connsiteX17" fmla="*/ 9148 w 5855313"/>
                <a:gd name="connsiteY17" fmla="*/ 96759 h 688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55313" h="6880645">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B4ABE2AA-A788-450F-94A8-AED4B698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6370"/>
              <a:ext cx="6254832" cy="6864558"/>
            </a:xfrm>
            <a:custGeom>
              <a:avLst/>
              <a:gdLst>
                <a:gd name="connsiteX0" fmla="*/ 2766060 w 6254832"/>
                <a:gd name="connsiteY0" fmla="*/ 0 h 6864558"/>
                <a:gd name="connsiteX1" fmla="*/ 0 w 6254832"/>
                <a:gd name="connsiteY1" fmla="*/ 1340683 h 6864558"/>
                <a:gd name="connsiteX2" fmla="*/ 0 w 6254832"/>
                <a:gd name="connsiteY2" fmla="*/ 2201306 h 6864558"/>
                <a:gd name="connsiteX3" fmla="*/ 1312 w 6254832"/>
                <a:gd name="connsiteY3" fmla="*/ 2197746 h 6864558"/>
                <a:gd name="connsiteX4" fmla="*/ 612723 w 6254832"/>
                <a:gd name="connsiteY4" fmla="*/ 1201649 h 6864558"/>
                <a:gd name="connsiteX5" fmla="*/ 1571344 w 6254832"/>
                <a:gd name="connsiteY5" fmla="*/ 483245 h 6864558"/>
                <a:gd name="connsiteX6" fmla="*/ 1641235 w 6254832"/>
                <a:gd name="connsiteY6" fmla="*/ 452328 h 6864558"/>
                <a:gd name="connsiteX7" fmla="*/ 1711502 w 6254832"/>
                <a:gd name="connsiteY7" fmla="*/ 422348 h 6864558"/>
                <a:gd name="connsiteX8" fmla="*/ 1783080 w 6254832"/>
                <a:gd name="connsiteY8" fmla="*/ 395178 h 6864558"/>
                <a:gd name="connsiteX9" fmla="*/ 1855220 w 6254832"/>
                <a:gd name="connsiteY9" fmla="*/ 369133 h 6864558"/>
                <a:gd name="connsiteX10" fmla="*/ 1928297 w 6254832"/>
                <a:gd name="connsiteY10" fmla="*/ 345711 h 6864558"/>
                <a:gd name="connsiteX11" fmla="*/ 2001749 w 6254832"/>
                <a:gd name="connsiteY11" fmla="*/ 323600 h 6864558"/>
                <a:gd name="connsiteX12" fmla="*/ 2076138 w 6254832"/>
                <a:gd name="connsiteY12" fmla="*/ 304300 h 6864558"/>
                <a:gd name="connsiteX13" fmla="*/ 2113426 w 6254832"/>
                <a:gd name="connsiteY13" fmla="*/ 294744 h 6864558"/>
                <a:gd name="connsiteX14" fmla="*/ 2132163 w 6254832"/>
                <a:gd name="connsiteY14" fmla="*/ 290060 h 6864558"/>
                <a:gd name="connsiteX15" fmla="*/ 2151089 w 6254832"/>
                <a:gd name="connsiteY15" fmla="*/ 286312 h 6864558"/>
                <a:gd name="connsiteX16" fmla="*/ 2763249 w 6254832"/>
                <a:gd name="connsiteY16" fmla="*/ 218482 h 6864558"/>
                <a:gd name="connsiteX17" fmla="*/ 3372225 w 6254832"/>
                <a:gd name="connsiteY17" fmla="*/ 301302 h 6864558"/>
                <a:gd name="connsiteX18" fmla="*/ 3663596 w 6254832"/>
                <a:gd name="connsiteY18" fmla="*/ 398364 h 6864558"/>
                <a:gd name="connsiteX19" fmla="*/ 3941663 w 6254832"/>
                <a:gd name="connsiteY19" fmla="*/ 526717 h 6864558"/>
                <a:gd name="connsiteX20" fmla="*/ 4204366 w 6254832"/>
                <a:gd name="connsiteY20" fmla="*/ 681678 h 6864558"/>
                <a:gd name="connsiteX21" fmla="*/ 4450018 w 6254832"/>
                <a:gd name="connsiteY21" fmla="*/ 860061 h 6864558"/>
                <a:gd name="connsiteX22" fmla="*/ 4678992 w 6254832"/>
                <a:gd name="connsiteY22" fmla="*/ 1057181 h 6864558"/>
                <a:gd name="connsiteX23" fmla="*/ 4889791 w 6254832"/>
                <a:gd name="connsiteY23" fmla="*/ 1271166 h 6864558"/>
                <a:gd name="connsiteX24" fmla="*/ 5083164 w 6254832"/>
                <a:gd name="connsiteY24" fmla="*/ 1498642 h 6864558"/>
                <a:gd name="connsiteX25" fmla="*/ 5257987 w 6254832"/>
                <a:gd name="connsiteY25" fmla="*/ 1738484 h 6864558"/>
                <a:gd name="connsiteX26" fmla="*/ 5413510 w 6254832"/>
                <a:gd name="connsiteY26" fmla="*/ 1989195 h 6864558"/>
                <a:gd name="connsiteX27" fmla="*/ 5548609 w 6254832"/>
                <a:gd name="connsiteY27" fmla="*/ 2249462 h 6864558"/>
                <a:gd name="connsiteX28" fmla="*/ 5747791 w 6254832"/>
                <a:gd name="connsiteY28" fmla="*/ 2795666 h 6864558"/>
                <a:gd name="connsiteX29" fmla="*/ 5806814 w 6254832"/>
                <a:gd name="connsiteY29" fmla="*/ 3078980 h 6864558"/>
                <a:gd name="connsiteX30" fmla="*/ 5816933 w 6254832"/>
                <a:gd name="connsiteY30" fmla="*/ 3150558 h 6864558"/>
                <a:gd name="connsiteX31" fmla="*/ 5825178 w 6254832"/>
                <a:gd name="connsiteY31" fmla="*/ 3222323 h 6864558"/>
                <a:gd name="connsiteX32" fmla="*/ 5831923 w 6254832"/>
                <a:gd name="connsiteY32" fmla="*/ 3294276 h 6864558"/>
                <a:gd name="connsiteX33" fmla="*/ 5836233 w 6254832"/>
                <a:gd name="connsiteY33" fmla="*/ 3366416 h 6864558"/>
                <a:gd name="connsiteX34" fmla="*/ 5833047 w 6254832"/>
                <a:gd name="connsiteY34" fmla="*/ 3655726 h 6864558"/>
                <a:gd name="connsiteX35" fmla="*/ 5827426 w 6254832"/>
                <a:gd name="connsiteY35" fmla="*/ 3728054 h 6864558"/>
                <a:gd name="connsiteX36" fmla="*/ 5819556 w 6254832"/>
                <a:gd name="connsiteY36" fmla="*/ 3800194 h 6864558"/>
                <a:gd name="connsiteX37" fmla="*/ 5809063 w 6254832"/>
                <a:gd name="connsiteY37" fmla="*/ 3872147 h 6864558"/>
                <a:gd name="connsiteX38" fmla="*/ 5796696 w 6254832"/>
                <a:gd name="connsiteY38" fmla="*/ 3943912 h 6864558"/>
                <a:gd name="connsiteX39" fmla="*/ 5725305 w 6254832"/>
                <a:gd name="connsiteY39" fmla="*/ 4225165 h 6864558"/>
                <a:gd name="connsiteX40" fmla="*/ 5605384 w 6254832"/>
                <a:gd name="connsiteY40" fmla="*/ 4478312 h 6864558"/>
                <a:gd name="connsiteX41" fmla="*/ 5412573 w 6254832"/>
                <a:gd name="connsiteY41" fmla="*/ 4677306 h 6864558"/>
                <a:gd name="connsiteX42" fmla="*/ 5155867 w 6254832"/>
                <a:gd name="connsiteY42" fmla="*/ 4834703 h 6864558"/>
                <a:gd name="connsiteX43" fmla="*/ 4645452 w 6254832"/>
                <a:gd name="connsiteY43" fmla="*/ 5207396 h 6864558"/>
                <a:gd name="connsiteX44" fmla="*/ 4536211 w 6254832"/>
                <a:gd name="connsiteY44" fmla="*/ 5319072 h 6864558"/>
                <a:gd name="connsiteX45" fmla="*/ 4430343 w 6254832"/>
                <a:gd name="connsiteY45" fmla="*/ 5432061 h 6864558"/>
                <a:gd name="connsiteX46" fmla="*/ 4220668 w 6254832"/>
                <a:gd name="connsiteY46" fmla="*/ 5657663 h 6864558"/>
                <a:gd name="connsiteX47" fmla="*/ 4115174 w 6254832"/>
                <a:gd name="connsiteY47" fmla="*/ 5768777 h 6864558"/>
                <a:gd name="connsiteX48" fmla="*/ 4007245 w 6254832"/>
                <a:gd name="connsiteY48" fmla="*/ 5876707 h 6864558"/>
                <a:gd name="connsiteX49" fmla="*/ 3781081 w 6254832"/>
                <a:gd name="connsiteY49" fmla="*/ 6078887 h 6864558"/>
                <a:gd name="connsiteX50" fmla="*/ 3534493 w 6254832"/>
                <a:gd name="connsiteY50" fmla="*/ 6249775 h 6864558"/>
                <a:gd name="connsiteX51" fmla="*/ 3265232 w 6254832"/>
                <a:gd name="connsiteY51" fmla="*/ 6373068 h 6864558"/>
                <a:gd name="connsiteX52" fmla="*/ 3194779 w 6254832"/>
                <a:gd name="connsiteY52" fmla="*/ 6394804 h 6864558"/>
                <a:gd name="connsiteX53" fmla="*/ 3123575 w 6254832"/>
                <a:gd name="connsiteY53" fmla="*/ 6412792 h 6864558"/>
                <a:gd name="connsiteX54" fmla="*/ 3051435 w 6254832"/>
                <a:gd name="connsiteY54" fmla="*/ 6426471 h 6864558"/>
                <a:gd name="connsiteX55" fmla="*/ 2978733 w 6254832"/>
                <a:gd name="connsiteY55" fmla="*/ 6436214 h 6864558"/>
                <a:gd name="connsiteX56" fmla="*/ 2905656 w 6254832"/>
                <a:gd name="connsiteY56" fmla="*/ 6442211 h 6864558"/>
                <a:gd name="connsiteX57" fmla="*/ 2832204 w 6254832"/>
                <a:gd name="connsiteY57" fmla="*/ 6444459 h 6864558"/>
                <a:gd name="connsiteX58" fmla="*/ 2758565 w 6254832"/>
                <a:gd name="connsiteY58" fmla="*/ 6443335 h 6864558"/>
                <a:gd name="connsiteX59" fmla="*/ 2683239 w 6254832"/>
                <a:gd name="connsiteY59" fmla="*/ 6438463 h 6864558"/>
                <a:gd name="connsiteX60" fmla="*/ 2091503 w 6254832"/>
                <a:gd name="connsiteY60" fmla="*/ 6343275 h 6864558"/>
                <a:gd name="connsiteX61" fmla="*/ 1948347 w 6254832"/>
                <a:gd name="connsiteY61" fmla="*/ 6301490 h 6864558"/>
                <a:gd name="connsiteX62" fmla="*/ 1807626 w 6254832"/>
                <a:gd name="connsiteY62" fmla="*/ 6252585 h 6864558"/>
                <a:gd name="connsiteX63" fmla="*/ 1738297 w 6254832"/>
                <a:gd name="connsiteY63" fmla="*/ 6225790 h 6864558"/>
                <a:gd name="connsiteX64" fmla="*/ 1669529 w 6254832"/>
                <a:gd name="connsiteY64" fmla="*/ 6197684 h 6864558"/>
                <a:gd name="connsiteX65" fmla="*/ 1635239 w 6254832"/>
                <a:gd name="connsiteY65" fmla="*/ 6183630 h 6864558"/>
                <a:gd name="connsiteX66" fmla="*/ 1601699 w 6254832"/>
                <a:gd name="connsiteY66" fmla="*/ 6167891 h 6864558"/>
                <a:gd name="connsiteX67" fmla="*/ 1534618 w 6254832"/>
                <a:gd name="connsiteY67" fmla="*/ 6136411 h 6864558"/>
                <a:gd name="connsiteX68" fmla="*/ 592299 w 6254832"/>
                <a:gd name="connsiteY68" fmla="*/ 5443116 h 6864558"/>
                <a:gd name="connsiteX69" fmla="*/ 0 w 6254832"/>
                <a:gd name="connsiteY69" fmla="*/ 4496675 h 6864558"/>
                <a:gd name="connsiteX70" fmla="*/ 0 w 6254832"/>
                <a:gd name="connsiteY70" fmla="*/ 5523875 h 6864558"/>
                <a:gd name="connsiteX71" fmla="*/ 2766060 w 6254832"/>
                <a:gd name="connsiteY71" fmla="*/ 6864559 h 6864558"/>
                <a:gd name="connsiteX72" fmla="*/ 6254833 w 6254832"/>
                <a:gd name="connsiteY72" fmla="*/ 3432373 h 6864558"/>
                <a:gd name="connsiteX73" fmla="*/ 2766060 w 6254832"/>
                <a:gd name="connsiteY73" fmla="*/ 0 h 686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54832" h="6864558">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ln w="18736"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C708E42D-4A87-F284-8899-B94233E1977A}"/>
              </a:ext>
            </a:extLst>
          </p:cNvPr>
          <p:cNvSpPr>
            <a:spLocks noGrp="1"/>
          </p:cNvSpPr>
          <p:nvPr>
            <p:ph type="title"/>
          </p:nvPr>
        </p:nvSpPr>
        <p:spPr>
          <a:xfrm>
            <a:off x="5595298" y="802956"/>
            <a:ext cx="6254831" cy="809846"/>
          </a:xfrm>
        </p:spPr>
        <p:txBody>
          <a:bodyPr vert="horz" lIns="91440" tIns="45720" rIns="91440" bIns="45720" rtlCol="0" anchor="b">
            <a:normAutofit/>
          </a:bodyPr>
          <a:lstStyle/>
          <a:p>
            <a:pPr rtl="0"/>
            <a:r>
              <a:rPr lang="en-US" sz="3600" b="1" dirty="0">
                <a:solidFill>
                  <a:schemeClr val="tx2"/>
                </a:solidFill>
                <a:ea typeface="+mj-ea"/>
                <a:cs typeface="+mj-cs"/>
              </a:rPr>
              <a:t>The Barriers to the Just Culture</a:t>
            </a:r>
          </a:p>
        </p:txBody>
      </p:sp>
      <p:sp>
        <p:nvSpPr>
          <p:cNvPr id="5" name="Oval 4">
            <a:extLst>
              <a:ext uri="{FF2B5EF4-FFF2-40B4-BE49-F238E27FC236}">
                <a16:creationId xmlns:a16="http://schemas.microsoft.com/office/drawing/2014/main" id="{8920D74D-3820-0897-0D34-B3D3A4ABA605}"/>
              </a:ext>
            </a:extLst>
          </p:cNvPr>
          <p:cNvSpPr/>
          <p:nvPr/>
        </p:nvSpPr>
        <p:spPr>
          <a:xfrm>
            <a:off x="2928138" y="3437033"/>
            <a:ext cx="2059555" cy="11810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dirty="0"/>
              <a:t>Hierarchical system</a:t>
            </a:r>
          </a:p>
        </p:txBody>
      </p:sp>
      <p:graphicFrame>
        <p:nvGraphicFramePr>
          <p:cNvPr id="11" name="Diagram 10">
            <a:extLst>
              <a:ext uri="{FF2B5EF4-FFF2-40B4-BE49-F238E27FC236}">
                <a16:creationId xmlns:a16="http://schemas.microsoft.com/office/drawing/2014/main" id="{61575B7C-8590-F9D7-A478-C4A5835256BC}"/>
              </a:ext>
            </a:extLst>
          </p:cNvPr>
          <p:cNvGraphicFramePr/>
          <p:nvPr>
            <p:extLst>
              <p:ext uri="{D42A27DB-BD31-4B8C-83A1-F6EECF244321}">
                <p14:modId xmlns:p14="http://schemas.microsoft.com/office/powerpoint/2010/main" val="88767616"/>
              </p:ext>
            </p:extLst>
          </p:nvPr>
        </p:nvGraphicFramePr>
        <p:xfrm>
          <a:off x="6096000" y="2184992"/>
          <a:ext cx="4972152" cy="41910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2624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Lst>
          </p:cNvPr>
          <p:cNvSpPr>
            <a:spLocks noGrp="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64053CBF-3932-45FF-8285-EE5146085F3A}"/>
              </a:ext>
            </a:extLst>
          </p:cNvPr>
          <p:cNvSpPr>
            <a:spLocks noGrp="1"/>
          </p:cNvSpPr>
          <p:nvPr/>
        </p:nvSpPr>
        <p:spPr>
          <a:xfrm>
            <a:off x="0" y="0"/>
            <a:ext cx="12191695" cy="6858000"/>
          </a:xfrm>
          <a:prstGeom prst="rect">
            <a:avLst/>
          </a:prstGeom>
          <a:gradFill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Freeform: Shape 12">
            <a:extLst>
              <a:ext uri="{FF2B5EF4-FFF2-40B4-BE49-F238E27FC236}">
                <a16:creationId xmlns:a16="http://schemas.microsoft.com/office/drawing/2014/main" id="{2625A013-D9BE-43C4-AF21-6F2B003EFBEF}"/>
              </a:ext>
            </a:extLst>
          </p:cNvPr>
          <p:cNvSpPr>
            <a:spLocks noGrp="1"/>
          </p:cNvSpPr>
          <p:nvPr/>
        </p:nvSpPr>
        <p:spPr>
          <a:xfrm flipH="1">
            <a:off x="-12486106" y="-8167"/>
            <a:ext cx="4834070" cy="2488150"/>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Freeform: Shape 13">
            <a:extLst>
              <a:ext uri="{FF2B5EF4-FFF2-40B4-BE49-F238E27FC236}">
                <a16:creationId xmlns:a16="http://schemas.microsoft.com/office/drawing/2014/main" id="{F7875715-EC2E-457F-851D-F6C817685FEC}"/>
              </a:ext>
            </a:extLst>
          </p:cNvPr>
          <p:cNvSpPr>
            <a:spLocks noGrp="1"/>
          </p:cNvSpPr>
          <p:nvPr/>
        </p:nvSpPr>
        <p:spPr>
          <a:xfrm flipH="1">
            <a:off x="-12530999" y="-8167"/>
            <a:ext cx="4789177" cy="2280679"/>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Freeform: Shape 14">
            <a:extLst>
              <a:ext uri="{FF2B5EF4-FFF2-40B4-BE49-F238E27FC236}">
                <a16:creationId xmlns:a16="http://schemas.microsoft.com/office/drawing/2014/main" id="{F7E41CC6-0C83-40EE-80BB-79394D9E9B2F}"/>
              </a:ext>
            </a:extLst>
          </p:cNvPr>
          <p:cNvSpPr>
            <a:spLocks noGrp="1"/>
          </p:cNvSpPr>
          <p:nvPr/>
        </p:nvSpPr>
        <p:spPr>
          <a:xfrm flipH="1">
            <a:off x="-12535309" y="-8167"/>
            <a:ext cx="4784867" cy="2240141"/>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00603498-5DFE-4D26-BFB5-C9269C9BDB0A}"/>
              </a:ext>
            </a:extLst>
          </p:cNvPr>
          <p:cNvSpPr>
            <a:spLocks noGrp="1"/>
          </p:cNvSpPr>
          <p:nvPr/>
        </p:nvSpPr>
        <p:spPr>
          <a:xfrm flipH="1">
            <a:off x="-12535309" y="-8167"/>
            <a:ext cx="4784867" cy="2240141"/>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A51CE7A5-04E7-AB33-632E-F1AA6D0A09CE}"/>
              </a:ext>
            </a:extLst>
          </p:cNvPr>
          <p:cNvSpPr>
            <a:spLocks noGrp="1"/>
          </p:cNvSpPr>
          <p:nvPr>
            <p:ph type="title"/>
          </p:nvPr>
        </p:nvSpPr>
        <p:spPr>
          <a:xfrm>
            <a:off x="3027924" y="991261"/>
            <a:ext cx="5754696" cy="1837349"/>
          </a:xfrm>
        </p:spPr>
        <p:txBody>
          <a:bodyPr>
            <a:normAutofit/>
          </a:bodyPr>
          <a:lstStyle/>
          <a:p>
            <a:pPr algn="ctr">
              <a:buNone/>
            </a:pPr>
            <a:endParaRPr dirty="0"/>
          </a:p>
          <a:p>
            <a:pPr algn="ctr">
              <a:buNone/>
            </a:pPr>
            <a:r>
              <a:rPr b="1" dirty="0"/>
              <a:t>References</a:t>
            </a:r>
          </a:p>
        </p:txBody>
      </p:sp>
      <p:sp>
        <p:nvSpPr>
          <p:cNvPr id="3" name="Content Placeholder 2">
            <a:extLst>
              <a:ext uri="{FF2B5EF4-FFF2-40B4-BE49-F238E27FC236}">
                <a16:creationId xmlns:a16="http://schemas.microsoft.com/office/drawing/2014/main" id="{D0046068-0F9C-002D-6404-EEA1E1B9E9C1}"/>
              </a:ext>
            </a:extLst>
          </p:cNvPr>
          <p:cNvSpPr>
            <a:spLocks noGrp="1"/>
          </p:cNvSpPr>
          <p:nvPr>
            <p:ph idx="1"/>
          </p:nvPr>
        </p:nvSpPr>
        <p:spPr>
          <a:xfrm>
            <a:off x="3050412" y="2979336"/>
            <a:ext cx="5709721" cy="2430864"/>
          </a:xfrm>
        </p:spPr>
        <p:txBody>
          <a:bodyPr anchor="t">
            <a:normAutofit fontScale="89501" lnSpcReduction="20000"/>
          </a:bodyPr>
          <a:lstStyle/>
          <a:p>
            <a:pPr marL="0" indent="0">
              <a:buNone/>
            </a:pPr>
            <a:endParaRPr dirty="0"/>
          </a:p>
          <a:p>
            <a:pPr marL="0" indent="0">
              <a:buNone/>
            </a:pPr>
            <a:r>
              <a:rPr sz="2000" dirty="0">
                <a:solidFill>
                  <a:schemeClr val="tx2"/>
                </a:solidFill>
                <a:latin typeface="Apple Symbols"/>
                <a:ea typeface="Apple Symbols"/>
                <a:cs typeface="Apple Symbols"/>
              </a:rPr>
              <a:t>Beyer, B., Jones, C., </a:t>
            </a:r>
            <a:r>
              <a:rPr sz="2000" dirty="0" err="1">
                <a:solidFill>
                  <a:schemeClr val="tx2"/>
                </a:solidFill>
                <a:latin typeface="Apple Symbols"/>
                <a:ea typeface="Apple Symbols"/>
                <a:cs typeface="Apple Symbols"/>
              </a:rPr>
              <a:t>Petoff</a:t>
            </a:r>
            <a:r>
              <a:rPr sz="2000" dirty="0">
                <a:solidFill>
                  <a:schemeClr val="tx2"/>
                </a:solidFill>
                <a:latin typeface="Apple Symbols"/>
                <a:ea typeface="Apple Symbols"/>
                <a:cs typeface="Apple Symbols"/>
              </a:rPr>
              <a:t>, J., &amp; Murphy, N. R. (Eds.). (2016). Site reliability engineering: How Google runs production systems. O'Reilly Media. https://</a:t>
            </a:r>
            <a:r>
              <a:rPr sz="2000" dirty="0" err="1">
                <a:solidFill>
                  <a:schemeClr val="tx2"/>
                </a:solidFill>
                <a:latin typeface="Apple Symbols"/>
                <a:ea typeface="Apple Symbols"/>
                <a:cs typeface="Apple Symbols"/>
              </a:rPr>
              <a:t>sre.google</a:t>
            </a:r>
            <a:r>
              <a:rPr sz="2000" dirty="0">
                <a:solidFill>
                  <a:schemeClr val="tx2"/>
                </a:solidFill>
                <a:latin typeface="Apple Symbols"/>
                <a:ea typeface="Apple Symbols"/>
                <a:cs typeface="Apple Symbols"/>
              </a:rPr>
              <a:t>/</a:t>
            </a:r>
            <a:r>
              <a:rPr sz="2000" dirty="0" err="1">
                <a:solidFill>
                  <a:schemeClr val="tx2"/>
                </a:solidFill>
                <a:latin typeface="Apple Symbols"/>
                <a:ea typeface="Apple Symbols"/>
                <a:cs typeface="Apple Symbols"/>
              </a:rPr>
              <a:t>sre</a:t>
            </a:r>
            <a:r>
              <a:rPr sz="2000" dirty="0">
                <a:solidFill>
                  <a:schemeClr val="tx2"/>
                </a:solidFill>
                <a:latin typeface="Apple Symbols"/>
                <a:ea typeface="Apple Symbols"/>
                <a:cs typeface="Apple Symbols"/>
              </a:rPr>
              <a:t>-book/ </a:t>
            </a:r>
          </a:p>
          <a:p>
            <a:pPr marL="0" indent="0">
              <a:buNone/>
            </a:pPr>
            <a:r>
              <a:rPr sz="2000" dirty="0">
                <a:solidFill>
                  <a:schemeClr val="tx2"/>
                </a:solidFill>
                <a:latin typeface="Apple Symbols"/>
                <a:ea typeface="Apple Symbols"/>
                <a:cs typeface="Apple Symbols"/>
              </a:rPr>
              <a:t>Geraghty, T. (2025, May 23). Just culture. Psych Safety. https://</a:t>
            </a:r>
            <a:r>
              <a:rPr sz="2000" dirty="0" err="1">
                <a:solidFill>
                  <a:schemeClr val="tx2"/>
                </a:solidFill>
                <a:latin typeface="Apple Symbols"/>
                <a:ea typeface="Apple Symbols"/>
                <a:cs typeface="Apple Symbols"/>
              </a:rPr>
              <a:t>psychsafety.com</a:t>
            </a:r>
            <a:r>
              <a:rPr sz="2000" dirty="0">
                <a:solidFill>
                  <a:schemeClr val="tx2"/>
                </a:solidFill>
                <a:latin typeface="Apple Symbols"/>
                <a:ea typeface="Apple Symbols"/>
                <a:cs typeface="Apple Symbols"/>
              </a:rPr>
              <a:t>/just-culture/</a:t>
            </a:r>
          </a:p>
          <a:p>
            <a:pPr marL="0" indent="0">
              <a:buNone/>
            </a:pPr>
            <a:r>
              <a:rPr sz="2000" dirty="0">
                <a:solidFill>
                  <a:schemeClr val="tx2"/>
                </a:solidFill>
                <a:latin typeface="Apple Symbols"/>
                <a:ea typeface="Apple Symbols"/>
                <a:cs typeface="Apple Symbols"/>
              </a:rPr>
              <a:t>Kim, G., </a:t>
            </a:r>
            <a:r>
              <a:rPr sz="2000" dirty="0" err="1">
                <a:solidFill>
                  <a:schemeClr val="tx2"/>
                </a:solidFill>
                <a:latin typeface="Apple Symbols"/>
                <a:ea typeface="Apple Symbols"/>
                <a:cs typeface="Apple Symbols"/>
              </a:rPr>
              <a:t>Allspaw</a:t>
            </a:r>
            <a:r>
              <a:rPr sz="2000" dirty="0">
                <a:solidFill>
                  <a:schemeClr val="tx2"/>
                </a:solidFill>
                <a:latin typeface="Apple Symbols"/>
                <a:ea typeface="Apple Symbols"/>
                <a:cs typeface="Apple Symbols"/>
              </a:rPr>
              <a:t>, J., Debois, P., Humble, J., &amp; Willis, J. (2016). The DevOps handbook: How to create world-class agility, reliability, &amp; security in technology organizations. IT Revolution Press. </a:t>
            </a:r>
          </a:p>
          <a:p>
            <a:pPr marL="0" indent="0">
              <a:buNone/>
            </a:pPr>
            <a:endParaRPr sz="2000" dirty="0">
              <a:solidFill>
                <a:schemeClr val="tx2"/>
              </a:solidFill>
              <a:latin typeface="Apple Symbols"/>
              <a:ea typeface="Apple Symbols"/>
              <a:cs typeface="Apple Symbols"/>
            </a:endParaRPr>
          </a:p>
        </p:txBody>
      </p:sp>
      <p:sp>
        <p:nvSpPr>
          <p:cNvPr id="19" name="Freeform: Shape 18">
            <a:extLst>
              <a:ext uri="{FF2B5EF4-FFF2-40B4-BE49-F238E27FC236}">
                <a16:creationId xmlns:a16="http://schemas.microsoft.com/office/drawing/2014/main" id="{62F7819D-2B89-4D80-A1C3-8B318116BAAD}"/>
              </a:ext>
            </a:extLst>
          </p:cNvPr>
          <p:cNvSpPr>
            <a:spLocks noGrp="1"/>
          </p:cNvSpPr>
          <p:nvPr/>
        </p:nvSpPr>
        <p:spPr>
          <a:xfrm>
            <a:off x="9058275" y="4151501"/>
            <a:ext cx="3142400" cy="2711613"/>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Freeform: Shape 19">
            <a:extLst>
              <a:ext uri="{FF2B5EF4-FFF2-40B4-BE49-F238E27FC236}">
                <a16:creationId xmlns:a16="http://schemas.microsoft.com/office/drawing/2014/main" id="{B7065990-2350-41B3-858B-20EF8744F26C}"/>
              </a:ext>
            </a:extLst>
          </p:cNvPr>
          <p:cNvSpPr>
            <a:spLocks noGrp="1"/>
          </p:cNvSpPr>
          <p:nvPr/>
        </p:nvSpPr>
        <p:spPr>
          <a:xfrm>
            <a:off x="9058275" y="4146310"/>
            <a:ext cx="3115053" cy="2433874"/>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Freeform: Shape 20">
            <a:extLst>
              <a:ext uri="{FF2B5EF4-FFF2-40B4-BE49-F238E27FC236}">
                <a16:creationId xmlns:a16="http://schemas.microsoft.com/office/drawing/2014/main" id="{58DA7EC7-CAA0-4665-AA29-BFBA806ECAB2}"/>
              </a:ext>
            </a:extLst>
          </p:cNvPr>
          <p:cNvSpPr>
            <a:spLocks noGrp="1"/>
          </p:cNvSpPr>
          <p:nvPr/>
        </p:nvSpPr>
        <p:spPr>
          <a:xfrm>
            <a:off x="9058275" y="4151501"/>
            <a:ext cx="3125083" cy="2464869"/>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2" name="Freeform: Shape 21">
            <a:extLst>
              <a:ext uri="{FF2B5EF4-FFF2-40B4-BE49-F238E27FC236}">
                <a16:creationId xmlns:a16="http://schemas.microsoft.com/office/drawing/2014/main" id="{B1132A14-489F-4CED-B626-2A1711C987C2}"/>
              </a:ext>
            </a:extLst>
          </p:cNvPr>
          <p:cNvSpPr>
            <a:spLocks noGrp="1"/>
          </p:cNvSpPr>
          <p:nvPr/>
        </p:nvSpPr>
        <p:spPr>
          <a:xfrm>
            <a:off x="9059037" y="4151502"/>
            <a:ext cx="3112608" cy="2428582"/>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748114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653</Words>
  <Application>Microsoft Macintosh PowerPoint</Application>
  <DocSecurity>0</DocSecurity>
  <PresentationFormat>Widescreen</PresentationFormat>
  <Paragraphs>46</Paragraphs>
  <Slides>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Apple Symbols</vt:lpstr>
      <vt:lpstr>Aptos</vt:lpstr>
      <vt:lpstr>Aptos Display</vt:lpstr>
      <vt:lpstr>Arial</vt:lpstr>
      <vt:lpstr>Office Theme</vt:lpstr>
      <vt:lpstr> What are the barriers or challenges to implementing a just culture?</vt:lpstr>
      <vt:lpstr> Definition of a Just Culture</vt:lpstr>
      <vt:lpstr> A Postmortem Phylosophy</vt:lpstr>
      <vt:lpstr>The Barriers</vt:lpstr>
      <vt:lpstr>The Barriers</vt:lpstr>
      <vt:lpstr>The Barriers</vt:lpstr>
      <vt:lpstr>The Barriers</vt:lpstr>
      <vt:lpstr>The Barriers to the Just Culture</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Patrice Moracchini</cp:lastModifiedBy>
  <cp:revision>1</cp:revision>
  <dcterms:created xsi:type="dcterms:W3CDTF">2026-07-20T01:01:18Z</dcterms:created>
  <dcterms:modified xsi:type="dcterms:W3CDTF">2026-07-20T02:45:06Z</dcterms:modified>
</cp:coreProperties>
</file>