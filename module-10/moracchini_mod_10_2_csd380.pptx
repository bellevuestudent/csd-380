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5"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5F6803-9E5A-104F-B5E4-C5E44114DD7B}" v="80" dt="2026-07-27T00:29:23.3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154955" y="1447800"/>
            <a:ext cx="8825658" cy="3329581"/>
          </a:xfrm>
        </p:spPr>
        <p:txBody>
          <a:bodyPr anchor="b"/>
          <a:lstStyle>
            <a:lvl1pPr marL="0" marR="0" indent="0" algn="l" defTabSz="457200" rtl="0" eaLnBrk="1" fontAlgn="auto" latinLnBrk="0" hangingPunct="1">
              <a:lnSpc>
                <a:spcPct val="100000"/>
              </a:lnSpc>
              <a:spcBef>
                <a:spcPct val="0"/>
              </a:spcBef>
              <a:spcAft>
                <a:spcPts val="0"/>
              </a:spcAft>
              <a:buClrTx/>
              <a:buSzTx/>
              <a:buFontTx/>
              <a:buNone/>
              <a:tabLst/>
              <a:defRPr lang="en-US" sz="4500" b="1" i="0" u="none" strike="noStrike" baseline="0" smtClean="0">
                <a:effectLst/>
              </a:defRPr>
            </a:lvl1pPr>
          </a:lstStyle>
          <a:p>
            <a:r>
              <a:rPr lang="en-US" dirty="0"/>
              <a:t> </a:t>
            </a:r>
            <a:r>
              <a:rPr lang="en-US" sz="1050" dirty="0"/>
              <a:t>Security Controls in Shared Source Code Repositories</a:t>
            </a:r>
            <a:r>
              <a:rPr lang="en-US" dirty="0"/>
              <a:t> </a:t>
            </a:r>
          </a:p>
        </p:txBody>
      </p:sp>
      <p:sp>
        <p:nvSpPr>
          <p:cNvPr id="3" name="Subtitle 2"/>
          <p:cNvSpPr>
            <a:spLocks noGrp="1"/>
          </p:cNvSpPr>
          <p:nvPr>
            <p:ph type="subTitle" idx="1" hasCustomPrompt="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By Patrice Moracchini</a:t>
            </a:r>
          </a:p>
        </p:txBody>
      </p:sp>
      <p:sp>
        <p:nvSpPr>
          <p:cNvPr id="7" name="TextBox 6">
            <a:extLst>
              <a:ext uri="{FF2B5EF4-FFF2-40B4-BE49-F238E27FC236}">
                <a16:creationId xmlns:a16="http://schemas.microsoft.com/office/drawing/2014/main" id="{15FC2E61-7D9C-37FF-52BD-E34A20756427}"/>
              </a:ext>
            </a:extLst>
          </p:cNvPr>
          <p:cNvSpPr txBox="1"/>
          <p:nvPr userDrawn="1"/>
        </p:nvSpPr>
        <p:spPr>
          <a:xfrm>
            <a:off x="7593496" y="6033052"/>
            <a:ext cx="2196547" cy="369332"/>
          </a:xfrm>
          <a:prstGeom prst="rect">
            <a:avLst/>
          </a:prstGeom>
          <a:noFill/>
        </p:spPr>
        <p:txBody>
          <a:bodyPr wrap="square" rtlCol="0">
            <a:spAutoFit/>
          </a:bodyPr>
          <a:lstStyle/>
          <a:p>
            <a:r>
              <a:rPr lang="en-US" dirty="0"/>
              <a:t>Pr. Sampson</a:t>
            </a:r>
          </a:p>
        </p:txBody>
      </p:sp>
      <p:sp>
        <p:nvSpPr>
          <p:cNvPr id="8" name="TextBox 7">
            <a:extLst>
              <a:ext uri="{FF2B5EF4-FFF2-40B4-BE49-F238E27FC236}">
                <a16:creationId xmlns:a16="http://schemas.microsoft.com/office/drawing/2014/main" id="{0E7F18AC-D829-C380-356F-9D9D759A77AE}"/>
              </a:ext>
            </a:extLst>
          </p:cNvPr>
          <p:cNvSpPr txBox="1"/>
          <p:nvPr userDrawn="1"/>
        </p:nvSpPr>
        <p:spPr>
          <a:xfrm>
            <a:off x="10384238" y="679572"/>
            <a:ext cx="838199" cy="223138"/>
          </a:xfrm>
          <a:prstGeom prst="rect">
            <a:avLst/>
          </a:prstGeom>
          <a:noFill/>
        </p:spPr>
        <p:txBody>
          <a:bodyPr wrap="square" rtlCol="0">
            <a:spAutoFit/>
          </a:bodyPr>
          <a:lstStyle/>
          <a:p>
            <a:r>
              <a:rPr lang="en-US" sz="850" baseline="0" dirty="0"/>
              <a:t>07/26/2026</a:t>
            </a:r>
          </a:p>
        </p:txBody>
      </p:sp>
      <p:sp>
        <p:nvSpPr>
          <p:cNvPr id="9" name="Date Placeholder 8">
            <a:extLst>
              <a:ext uri="{FF2B5EF4-FFF2-40B4-BE49-F238E27FC236}">
                <a16:creationId xmlns:a16="http://schemas.microsoft.com/office/drawing/2014/main" id="{2E7EEEF5-51B6-CE9F-6351-D497E304F3DA}"/>
              </a:ext>
            </a:extLst>
          </p:cNvPr>
          <p:cNvSpPr>
            <a:spLocks noGrp="1"/>
          </p:cNvSpPr>
          <p:nvPr>
            <p:ph type="dt" sz="half" idx="10"/>
          </p:nvPr>
        </p:nvSpPr>
        <p:spPr/>
        <p:txBody>
          <a:bodyPr/>
          <a:lstStyle/>
          <a:p>
            <a:fld id="{36C3D602-6AF9-0647-B81D-EEA6B463BEB2}" type="datetimeFigureOut">
              <a:rPr lang="en-US" smtClean="0"/>
              <a:t>7/26/26</a:t>
            </a:fld>
            <a:endParaRPr lang="en-US"/>
          </a:p>
        </p:txBody>
      </p:sp>
      <p:sp>
        <p:nvSpPr>
          <p:cNvPr id="10" name="Footer Placeholder 9">
            <a:extLst>
              <a:ext uri="{FF2B5EF4-FFF2-40B4-BE49-F238E27FC236}">
                <a16:creationId xmlns:a16="http://schemas.microsoft.com/office/drawing/2014/main" id="{BD5181F7-CFCD-D1FC-FE25-85EAD3AEFACF}"/>
              </a:ext>
            </a:extLst>
          </p:cNvPr>
          <p:cNvSpPr>
            <a:spLocks noGrp="1"/>
          </p:cNvSpPr>
          <p:nvPr>
            <p:ph type="ftr" sz="quarter" idx="11"/>
          </p:nvPr>
        </p:nvSpPr>
        <p:spPr/>
        <p:txBody>
          <a:bodyPr/>
          <a:lstStyle/>
          <a:p>
            <a:endParaRPr lang="en-US"/>
          </a:p>
        </p:txBody>
      </p:sp>
      <p:sp>
        <p:nvSpPr>
          <p:cNvPr id="11" name="Slide Number Placeholder 10">
            <a:extLst>
              <a:ext uri="{FF2B5EF4-FFF2-40B4-BE49-F238E27FC236}">
                <a16:creationId xmlns:a16="http://schemas.microsoft.com/office/drawing/2014/main" id="{7AB4B669-38C1-8340-6686-EDB2BCD34557}"/>
              </a:ext>
            </a:extLst>
          </p:cNvPr>
          <p:cNvSpPr>
            <a:spLocks noGrp="1"/>
          </p:cNvSpPr>
          <p:nvPr>
            <p:ph type="sldNum" sz="quarter" idx="12"/>
          </p:nvPr>
        </p:nvSpPr>
        <p:spPr>
          <a:xfrm>
            <a:off x="10415936" y="840548"/>
            <a:ext cx="806501" cy="223138"/>
          </a:xfrm>
          <a:prstGeom prst="rect">
            <a:avLst/>
          </a:prstGeom>
        </p:spPr>
        <p:txBody>
          <a:bodyPr/>
          <a:lstStyle>
            <a:lvl1pPr>
              <a:defRPr sz="1000" baseline="0"/>
            </a:lvl1pPr>
          </a:lstStyle>
          <a:p>
            <a:r>
              <a:rPr lang="en-US" dirty="0"/>
              <a:t>CSD-380</a:t>
            </a:r>
            <a:endParaRPr lang="en-US" sz="1000" dirty="0"/>
          </a:p>
        </p:txBody>
      </p:sp>
    </p:spTree>
    <p:extLst>
      <p:ext uri="{BB962C8B-B14F-4D97-AF65-F5344CB8AC3E}">
        <p14:creationId xmlns:p14="http://schemas.microsoft.com/office/powerpoint/2010/main" val="227787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36C3D602-6AF9-0647-B81D-EEA6B463BEB2}"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Tree>
    <p:extLst>
      <p:ext uri="{BB962C8B-B14F-4D97-AF65-F5344CB8AC3E}">
        <p14:creationId xmlns:p14="http://schemas.microsoft.com/office/powerpoint/2010/main" val="947774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C3D602-6AF9-0647-B81D-EEA6B463BEB2}"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Tree>
    <p:extLst>
      <p:ext uri="{BB962C8B-B14F-4D97-AF65-F5344CB8AC3E}">
        <p14:creationId xmlns:p14="http://schemas.microsoft.com/office/powerpoint/2010/main" val="10243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C3D602-6AF9-0647-B81D-EEA6B463BEB2}" type="datetimeFigureOut">
              <a:rPr lang="en-US" smtClean="0"/>
              <a:t>7/26/26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Tree>
    <p:extLst>
      <p:ext uri="{BB962C8B-B14F-4D97-AF65-F5344CB8AC3E}">
        <p14:creationId xmlns:p14="http://schemas.microsoft.com/office/powerpoint/2010/main" val="3792607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C3D602-6AF9-0647-B81D-EEA6B463BEB2}" type="datetimeFigureOut">
              <a:rPr lang="en-US" smtClean="0"/>
              <a:t>7/26/26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Tree>
    <p:extLst>
      <p:ext uri="{BB962C8B-B14F-4D97-AF65-F5344CB8AC3E}">
        <p14:creationId xmlns:p14="http://schemas.microsoft.com/office/powerpoint/2010/main" val="4285448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36C3D602-6AF9-0647-B81D-EEA6B463BEB2}" type="datetimeFigureOut">
              <a:rPr lang="en-US" smtClean="0"/>
              <a:t>7/26/26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Tree>
    <p:extLst>
      <p:ext uri="{BB962C8B-B14F-4D97-AF65-F5344CB8AC3E}">
        <p14:creationId xmlns:p14="http://schemas.microsoft.com/office/powerpoint/2010/main" val="3003620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6C3D602-6AF9-0647-B81D-EEA6B463BEB2}" type="datetimeFigureOut">
              <a:rPr lang="en-US" smtClean="0"/>
              <a:t>7/26/26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Tree>
    <p:extLst>
      <p:ext uri="{BB962C8B-B14F-4D97-AF65-F5344CB8AC3E}">
        <p14:creationId xmlns:p14="http://schemas.microsoft.com/office/powerpoint/2010/main" val="2011670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36C3D602-6AF9-0647-B81D-EEA6B463BEB2}" type="datetimeFigureOut">
              <a:rPr lang="en-US" smtClean="0"/>
              <a:t>7/26/26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Tree>
    <p:extLst>
      <p:ext uri="{BB962C8B-B14F-4D97-AF65-F5344CB8AC3E}">
        <p14:creationId xmlns:p14="http://schemas.microsoft.com/office/powerpoint/2010/main" val="2141782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C3D602-6AF9-0647-B81D-EEA6B463BEB2}" type="datetimeFigureOut">
              <a:rPr lang="en-US" smtClean="0"/>
              <a:t>7/26/26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Tree>
    <p:extLst>
      <p:ext uri="{BB962C8B-B14F-4D97-AF65-F5344CB8AC3E}">
        <p14:creationId xmlns:p14="http://schemas.microsoft.com/office/powerpoint/2010/main" val="3746419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C3D602-6AF9-0647-B81D-EEA6B463BEB2}" type="datetimeFigureOut">
              <a:rPr lang="en-US" smtClean="0"/>
              <a:t>7/26/26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Tree>
    <p:extLst>
      <p:ext uri="{BB962C8B-B14F-4D97-AF65-F5344CB8AC3E}">
        <p14:creationId xmlns:p14="http://schemas.microsoft.com/office/powerpoint/2010/main" val="1435013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6C3D602-6AF9-0647-B81D-EEA6B463BEB2}"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Tree>
    <p:extLst>
      <p:ext uri="{BB962C8B-B14F-4D97-AF65-F5344CB8AC3E}">
        <p14:creationId xmlns:p14="http://schemas.microsoft.com/office/powerpoint/2010/main" val="3029973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6C3D602-6AF9-0647-B81D-EEA6B463BEB2}"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28108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C3D602-6AF9-0647-B81D-EEA6B463BEB2}"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Tree>
    <p:extLst>
      <p:ext uri="{BB962C8B-B14F-4D97-AF65-F5344CB8AC3E}">
        <p14:creationId xmlns:p14="http://schemas.microsoft.com/office/powerpoint/2010/main" val="2653103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6C3D602-6AF9-0647-B81D-EEA6B463BEB2}" type="datetimeFigureOut">
              <a:rPr lang="en-US" smtClean="0"/>
              <a:t>7/26/26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Tree>
    <p:extLst>
      <p:ext uri="{BB962C8B-B14F-4D97-AF65-F5344CB8AC3E}">
        <p14:creationId xmlns:p14="http://schemas.microsoft.com/office/powerpoint/2010/main" val="8375020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6C3D602-6AF9-0647-B81D-EEA6B463BEB2}" type="datetimeFigureOut">
              <a:rPr lang="en-US" smtClean="0"/>
              <a:t>7/26/26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Tree>
    <p:extLst>
      <p:ext uri="{BB962C8B-B14F-4D97-AF65-F5344CB8AC3E}">
        <p14:creationId xmlns:p14="http://schemas.microsoft.com/office/powerpoint/2010/main" val="39599363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C3D602-6AF9-0647-B81D-EEA6B463BEB2}"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Tree>
    <p:extLst>
      <p:ext uri="{BB962C8B-B14F-4D97-AF65-F5344CB8AC3E}">
        <p14:creationId xmlns:p14="http://schemas.microsoft.com/office/powerpoint/2010/main" val="31354552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C3D602-6AF9-0647-B81D-EEA6B463BEB2}"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119DCA05-B9B1-5C44-99D7-A6BFD3DC9EFB}" type="slidenum">
              <a:rPr lang="en-US" smtClean="0"/>
              <a:t>‹#›</a:t>
            </a:fld>
            <a:endParaRPr lang="en-US"/>
          </a:p>
        </p:txBody>
      </p:sp>
    </p:spTree>
    <p:extLst>
      <p:ext uri="{BB962C8B-B14F-4D97-AF65-F5344CB8AC3E}">
        <p14:creationId xmlns:p14="http://schemas.microsoft.com/office/powerpoint/2010/main" val="145663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754207" y="1556835"/>
            <a:ext cx="9404723" cy="1400530"/>
          </a:xfrm>
          <a:prstGeom prst="rect">
            <a:avLst/>
          </a:prstGeom>
        </p:spPr>
        <p:txBody>
          <a:bodyPr vert="horz" lIns="91440" tIns="45720" rIns="91440" bIns="45720" rtlCol="0" anchor="t">
            <a:noAutofit/>
          </a:bodyPr>
          <a:lstStyle/>
          <a:p>
            <a:r>
              <a:rPr lang="en-US" dirty="0"/>
              <a:t> </a:t>
            </a:r>
            <a:r>
              <a:rPr lang="en-US" sz="4400" dirty="0"/>
              <a:t>Security Controls in Shared Source Code Repositories</a:t>
            </a:r>
            <a:r>
              <a:rPr lang="en-US" dirty="0"/>
              <a:t> </a:t>
            </a:r>
          </a:p>
        </p:txBody>
      </p:sp>
      <p:sp>
        <p:nvSpPr>
          <p:cNvPr id="3" name="Text Placeholder 2"/>
          <p:cNvSpPr>
            <a:spLocks noGrp="1"/>
          </p:cNvSpPr>
          <p:nvPr>
            <p:ph type="body" idx="1"/>
          </p:nvPr>
        </p:nvSpPr>
        <p:spPr>
          <a:xfrm>
            <a:off x="1103312" y="4422913"/>
            <a:ext cx="8946541" cy="182548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6C3D602-6AF9-0647-B81D-EEA6B463BEB2}" type="datetimeFigureOut">
              <a:rPr lang="en-US" smtClean="0"/>
              <a:t>7/26/26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Tree>
    <p:extLst>
      <p:ext uri="{BB962C8B-B14F-4D97-AF65-F5344CB8AC3E}">
        <p14:creationId xmlns:p14="http://schemas.microsoft.com/office/powerpoint/2010/main" val="72031444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1" i="0" kern="1200" baseline="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resources/articles/what-are-code-repositorie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633C2-BAED-346F-C7B7-C67860079EC2}"/>
              </a:ext>
            </a:extLst>
          </p:cNvPr>
          <p:cNvSpPr>
            <a:spLocks noGrp="1"/>
          </p:cNvSpPr>
          <p:nvPr>
            <p:ph type="ctrTitle"/>
          </p:nvPr>
        </p:nvSpPr>
        <p:spPr>
          <a:xfrm>
            <a:off x="1154955" y="1447801"/>
            <a:ext cx="8825658" cy="1981200"/>
          </a:xfrm>
        </p:spPr>
        <p:txBody>
          <a:bodyPr>
            <a:normAutofit/>
          </a:bodyPr>
          <a:lstStyle/>
          <a:p>
            <a:r>
              <a:rPr lang="en-US" sz="4800" dirty="0"/>
              <a:t>Security Controls in Shared Source Code Repositories</a:t>
            </a:r>
          </a:p>
        </p:txBody>
      </p:sp>
      <p:sp>
        <p:nvSpPr>
          <p:cNvPr id="3" name="Subtitle 2">
            <a:extLst>
              <a:ext uri="{FF2B5EF4-FFF2-40B4-BE49-F238E27FC236}">
                <a16:creationId xmlns:a16="http://schemas.microsoft.com/office/drawing/2014/main" id="{5793232B-4A9E-9179-F14D-52E8B78DEF31}"/>
              </a:ext>
            </a:extLst>
          </p:cNvPr>
          <p:cNvSpPr>
            <a:spLocks noGrp="1"/>
          </p:cNvSpPr>
          <p:nvPr>
            <p:ph type="subTitle" idx="1"/>
          </p:nvPr>
        </p:nvSpPr>
        <p:spPr/>
        <p:txBody>
          <a:bodyPr>
            <a:normAutofit/>
          </a:bodyPr>
          <a:lstStyle/>
          <a:p>
            <a:r>
              <a:rPr lang="en-US" dirty="0"/>
              <a:t>By Patrice Moracchini</a:t>
            </a:r>
          </a:p>
        </p:txBody>
      </p:sp>
      <p:sp>
        <p:nvSpPr>
          <p:cNvPr id="5" name="TextBox 4">
            <a:extLst>
              <a:ext uri="{FF2B5EF4-FFF2-40B4-BE49-F238E27FC236}">
                <a16:creationId xmlns:a16="http://schemas.microsoft.com/office/drawing/2014/main" id="{B38A867E-6997-80DA-C44E-BBD4BF688914}"/>
              </a:ext>
            </a:extLst>
          </p:cNvPr>
          <p:cNvSpPr txBox="1"/>
          <p:nvPr/>
        </p:nvSpPr>
        <p:spPr>
          <a:xfrm>
            <a:off x="10419908" y="861237"/>
            <a:ext cx="797440" cy="246221"/>
          </a:xfrm>
          <a:prstGeom prst="rect">
            <a:avLst/>
          </a:prstGeom>
          <a:noFill/>
        </p:spPr>
        <p:txBody>
          <a:bodyPr wrap="square" rtlCol="0">
            <a:spAutoFit/>
          </a:bodyPr>
          <a:lstStyle/>
          <a:p>
            <a:r>
              <a:rPr lang="en-US" sz="1000" dirty="0"/>
              <a:t>CSD-380</a:t>
            </a:r>
          </a:p>
        </p:txBody>
      </p:sp>
    </p:spTree>
    <p:extLst>
      <p:ext uri="{BB962C8B-B14F-4D97-AF65-F5344CB8AC3E}">
        <p14:creationId xmlns:p14="http://schemas.microsoft.com/office/powerpoint/2010/main" val="3707197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7A248-1CD7-D586-25B8-DDC45375E904}"/>
              </a:ext>
            </a:extLst>
          </p:cNvPr>
          <p:cNvSpPr>
            <a:spLocks noGrp="1"/>
          </p:cNvSpPr>
          <p:nvPr>
            <p:ph type="title"/>
          </p:nvPr>
        </p:nvSpPr>
        <p:spPr/>
        <p:txBody>
          <a:bodyPr/>
          <a:lstStyle/>
          <a:p>
            <a:r>
              <a:rPr lang="en-US" dirty="0"/>
              <a:t>Shared Source Code Repositories</a:t>
            </a:r>
            <a:br>
              <a:rPr lang="en-US" dirty="0"/>
            </a:br>
            <a:r>
              <a:rPr lang="en-US" dirty="0"/>
              <a:t>Definition</a:t>
            </a:r>
          </a:p>
        </p:txBody>
      </p:sp>
      <p:sp>
        <p:nvSpPr>
          <p:cNvPr id="3" name="Content Placeholder 2">
            <a:extLst>
              <a:ext uri="{FF2B5EF4-FFF2-40B4-BE49-F238E27FC236}">
                <a16:creationId xmlns:a16="http://schemas.microsoft.com/office/drawing/2014/main" id="{5C1E7C8F-200B-755F-B9A6-E506C6BF5810}"/>
              </a:ext>
            </a:extLst>
          </p:cNvPr>
          <p:cNvSpPr>
            <a:spLocks noGrp="1"/>
          </p:cNvSpPr>
          <p:nvPr>
            <p:ph idx="1"/>
          </p:nvPr>
        </p:nvSpPr>
        <p:spPr>
          <a:xfrm>
            <a:off x="1622729" y="3900636"/>
            <a:ext cx="8946541" cy="1825486"/>
          </a:xfrm>
        </p:spPr>
        <p:txBody>
          <a:bodyPr>
            <a:normAutofit lnSpcReduction="10000"/>
          </a:bodyPr>
          <a:lstStyle/>
          <a:p>
            <a:pPr marL="0" lvl="0" indent="0">
              <a:buNone/>
            </a:pPr>
            <a:r>
              <a:rPr lang="en-US" dirty="0"/>
              <a:t>They are the centralized storage spaces where the source code is stored and managed. They also contain the configuration files and the documentation necessary for the project. They track changes and project history, and support safe developer collaboration and code reuse. They also provide security features to protect code and access control.  (GitHub, 2024)</a:t>
            </a:r>
          </a:p>
        </p:txBody>
      </p:sp>
      <p:sp>
        <p:nvSpPr>
          <p:cNvPr id="4" name="TextBox 3">
            <a:extLst>
              <a:ext uri="{FF2B5EF4-FFF2-40B4-BE49-F238E27FC236}">
                <a16:creationId xmlns:a16="http://schemas.microsoft.com/office/drawing/2014/main" id="{573A9E1E-5D0B-E556-7C80-DA66DB068B85}"/>
              </a:ext>
            </a:extLst>
          </p:cNvPr>
          <p:cNvSpPr txBox="1"/>
          <p:nvPr/>
        </p:nvSpPr>
        <p:spPr>
          <a:xfrm>
            <a:off x="10706986" y="808075"/>
            <a:ext cx="479618" cy="369332"/>
          </a:xfrm>
          <a:prstGeom prst="rect">
            <a:avLst/>
          </a:prstGeom>
          <a:noFill/>
        </p:spPr>
        <p:txBody>
          <a:bodyPr wrap="none" rtlCol="0">
            <a:spAutoFit/>
          </a:bodyPr>
          <a:lstStyle/>
          <a:p>
            <a:r>
              <a:rPr lang="en-US" dirty="0"/>
              <a:t>#1</a:t>
            </a:r>
          </a:p>
        </p:txBody>
      </p:sp>
    </p:spTree>
    <p:extLst>
      <p:ext uri="{BB962C8B-B14F-4D97-AF65-F5344CB8AC3E}">
        <p14:creationId xmlns:p14="http://schemas.microsoft.com/office/powerpoint/2010/main" val="4137046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C8F41-3F91-E705-B2D0-B6D58A2170C5}"/>
              </a:ext>
            </a:extLst>
          </p:cNvPr>
          <p:cNvSpPr>
            <a:spLocks noGrp="1"/>
          </p:cNvSpPr>
          <p:nvPr>
            <p:ph type="title"/>
          </p:nvPr>
        </p:nvSpPr>
        <p:spPr/>
        <p:txBody>
          <a:bodyPr/>
          <a:lstStyle/>
          <a:p>
            <a:r>
              <a:rPr lang="en-US" dirty="0"/>
              <a:t>Why are Security Controls Necessary?</a:t>
            </a:r>
          </a:p>
        </p:txBody>
      </p:sp>
      <p:sp>
        <p:nvSpPr>
          <p:cNvPr id="3" name="Content Placeholder 2">
            <a:extLst>
              <a:ext uri="{FF2B5EF4-FFF2-40B4-BE49-F238E27FC236}">
                <a16:creationId xmlns:a16="http://schemas.microsoft.com/office/drawing/2014/main" id="{5F210E95-A90E-C7F7-F7DF-6D76BA65384D}"/>
              </a:ext>
            </a:extLst>
          </p:cNvPr>
          <p:cNvSpPr>
            <a:spLocks noGrp="1"/>
          </p:cNvSpPr>
          <p:nvPr>
            <p:ph idx="1"/>
          </p:nvPr>
        </p:nvSpPr>
        <p:spPr>
          <a:xfrm>
            <a:off x="1622729" y="3795592"/>
            <a:ext cx="8946541" cy="1825486"/>
          </a:xfrm>
        </p:spPr>
        <p:txBody>
          <a:bodyPr>
            <a:normAutofit fontScale="70000" lnSpcReduction="20000"/>
          </a:bodyPr>
          <a:lstStyle/>
          <a:p>
            <a:pPr lvl="0"/>
            <a:r>
              <a:rPr lang="en-US" dirty="0"/>
              <a:t>They create a preconfigured and secure development environment with approved security libraries and services.</a:t>
            </a:r>
          </a:p>
          <a:p>
            <a:pPr lvl="0"/>
            <a:r>
              <a:rPr lang="en-US" dirty="0"/>
              <a:t>Developers can build their application using these tools and focus on building new features.</a:t>
            </a:r>
          </a:p>
          <a:p>
            <a:pPr lvl="0"/>
            <a:r>
              <a:rPr lang="en-US" dirty="0"/>
              <a:t>It lowers the development time, simplifies implementation, and avoids the complexity of adding security later in the SDLC.</a:t>
            </a:r>
          </a:p>
          <a:p>
            <a:pPr marL="0" lvl="0" indent="0">
              <a:buNone/>
            </a:pPr>
            <a:r>
              <a:rPr lang="en-US" dirty="0"/>
              <a:t>Kim et al. (2021)</a:t>
            </a:r>
          </a:p>
        </p:txBody>
      </p:sp>
      <p:sp>
        <p:nvSpPr>
          <p:cNvPr id="4" name="TextBox 3">
            <a:extLst>
              <a:ext uri="{FF2B5EF4-FFF2-40B4-BE49-F238E27FC236}">
                <a16:creationId xmlns:a16="http://schemas.microsoft.com/office/drawing/2014/main" id="{426F02B2-A002-C723-B654-87A4303B8F64}"/>
              </a:ext>
            </a:extLst>
          </p:cNvPr>
          <p:cNvSpPr txBox="1"/>
          <p:nvPr/>
        </p:nvSpPr>
        <p:spPr>
          <a:xfrm>
            <a:off x="10685721" y="786809"/>
            <a:ext cx="479618" cy="369332"/>
          </a:xfrm>
          <a:prstGeom prst="rect">
            <a:avLst/>
          </a:prstGeom>
          <a:noFill/>
        </p:spPr>
        <p:txBody>
          <a:bodyPr wrap="none" rtlCol="0">
            <a:spAutoFit/>
          </a:bodyPr>
          <a:lstStyle/>
          <a:p>
            <a:r>
              <a:rPr lang="en-US" dirty="0"/>
              <a:t>#2</a:t>
            </a:r>
          </a:p>
        </p:txBody>
      </p:sp>
    </p:spTree>
    <p:extLst>
      <p:ext uri="{BB962C8B-B14F-4D97-AF65-F5344CB8AC3E}">
        <p14:creationId xmlns:p14="http://schemas.microsoft.com/office/powerpoint/2010/main" val="3352581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78D72-5519-42C9-F0FA-7848E6107C98}"/>
              </a:ext>
            </a:extLst>
          </p:cNvPr>
          <p:cNvSpPr>
            <a:spLocks noGrp="1"/>
          </p:cNvSpPr>
          <p:nvPr>
            <p:ph type="title"/>
          </p:nvPr>
        </p:nvSpPr>
        <p:spPr/>
        <p:txBody>
          <a:bodyPr/>
          <a:lstStyle/>
          <a:p>
            <a:r>
              <a:rPr lang="en-US" dirty="0"/>
              <a:t>Approved Security Libraries and Security Components</a:t>
            </a:r>
          </a:p>
        </p:txBody>
      </p:sp>
      <p:sp>
        <p:nvSpPr>
          <p:cNvPr id="3" name="Content Placeholder 2">
            <a:extLst>
              <a:ext uri="{FF2B5EF4-FFF2-40B4-BE49-F238E27FC236}">
                <a16:creationId xmlns:a16="http://schemas.microsoft.com/office/drawing/2014/main" id="{8C0DC7D6-89F7-3425-8466-C023A4118169}"/>
              </a:ext>
            </a:extLst>
          </p:cNvPr>
          <p:cNvSpPr>
            <a:spLocks noGrp="1"/>
          </p:cNvSpPr>
          <p:nvPr>
            <p:ph idx="1"/>
          </p:nvPr>
        </p:nvSpPr>
        <p:spPr>
          <a:xfrm>
            <a:off x="1422288" y="3582940"/>
            <a:ext cx="9103945" cy="2254334"/>
          </a:xfrm>
        </p:spPr>
        <p:txBody>
          <a:bodyPr>
            <a:normAutofit fontScale="77500" lnSpcReduction="20000"/>
          </a:bodyPr>
          <a:lstStyle/>
          <a:p>
            <a:pPr lvl="0"/>
            <a:r>
              <a:rPr lang="en-US" dirty="0"/>
              <a:t>Trusted security libraries are pre-approved and added to the repository for developers to use and reuse.</a:t>
            </a:r>
          </a:p>
          <a:p>
            <a:pPr lvl="0"/>
            <a:r>
              <a:rPr lang="en-US" dirty="0"/>
              <a:t>They provide functions such as Authentication, authorization, password hashing, data encryption, and logging.</a:t>
            </a:r>
          </a:p>
          <a:p>
            <a:pPr lvl="0"/>
            <a:r>
              <a:rPr lang="en-US" dirty="0"/>
              <a:t>Security configurations and documentation are also added.</a:t>
            </a:r>
          </a:p>
          <a:p>
            <a:pPr lvl="0"/>
            <a:r>
              <a:rPr lang="en-US" dirty="0"/>
              <a:t>Again, this facilitates developers’ work, leads to a safer application, reduces development time, and saves on development costs.</a:t>
            </a:r>
          </a:p>
          <a:p>
            <a:pPr marL="0" indent="0">
              <a:buNone/>
            </a:pPr>
            <a:r>
              <a:rPr lang="en-US" dirty="0"/>
              <a:t>Kim et al. (2021)</a:t>
            </a:r>
          </a:p>
          <a:p>
            <a:pPr marL="0" lvl="0" indent="0">
              <a:buNone/>
            </a:pPr>
            <a:endParaRPr lang="en-US" dirty="0"/>
          </a:p>
        </p:txBody>
      </p:sp>
      <p:sp>
        <p:nvSpPr>
          <p:cNvPr id="4" name="TextBox 3">
            <a:extLst>
              <a:ext uri="{FF2B5EF4-FFF2-40B4-BE49-F238E27FC236}">
                <a16:creationId xmlns:a16="http://schemas.microsoft.com/office/drawing/2014/main" id="{9EBB4CF7-7C61-29D8-D44D-83A456AAD7ED}"/>
              </a:ext>
            </a:extLst>
          </p:cNvPr>
          <p:cNvSpPr txBox="1"/>
          <p:nvPr/>
        </p:nvSpPr>
        <p:spPr>
          <a:xfrm>
            <a:off x="10696354" y="808074"/>
            <a:ext cx="479618" cy="369332"/>
          </a:xfrm>
          <a:prstGeom prst="rect">
            <a:avLst/>
          </a:prstGeom>
          <a:noFill/>
        </p:spPr>
        <p:txBody>
          <a:bodyPr wrap="none" rtlCol="0">
            <a:spAutoFit/>
          </a:bodyPr>
          <a:lstStyle/>
          <a:p>
            <a:r>
              <a:rPr lang="en-US" dirty="0"/>
              <a:t>#3</a:t>
            </a:r>
          </a:p>
        </p:txBody>
      </p:sp>
    </p:spTree>
    <p:extLst>
      <p:ext uri="{BB962C8B-B14F-4D97-AF65-F5344CB8AC3E}">
        <p14:creationId xmlns:p14="http://schemas.microsoft.com/office/powerpoint/2010/main" val="1040548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8507-228A-CA10-1FA8-A78197061235}"/>
              </a:ext>
            </a:extLst>
          </p:cNvPr>
          <p:cNvSpPr>
            <a:spLocks noGrp="1"/>
          </p:cNvSpPr>
          <p:nvPr>
            <p:ph type="title"/>
          </p:nvPr>
        </p:nvSpPr>
        <p:spPr/>
        <p:txBody>
          <a:bodyPr/>
          <a:lstStyle/>
          <a:p>
            <a:r>
              <a:rPr lang="en-US" dirty="0"/>
              <a:t>Secrets Management</a:t>
            </a:r>
          </a:p>
        </p:txBody>
      </p:sp>
      <p:sp>
        <p:nvSpPr>
          <p:cNvPr id="3" name="Content Placeholder 2">
            <a:extLst>
              <a:ext uri="{FF2B5EF4-FFF2-40B4-BE49-F238E27FC236}">
                <a16:creationId xmlns:a16="http://schemas.microsoft.com/office/drawing/2014/main" id="{BDCDF0B4-CADE-7E5F-AED9-A0C58522D95D}"/>
              </a:ext>
            </a:extLst>
          </p:cNvPr>
          <p:cNvSpPr>
            <a:spLocks noGrp="1"/>
          </p:cNvSpPr>
          <p:nvPr>
            <p:ph idx="1"/>
          </p:nvPr>
        </p:nvSpPr>
        <p:spPr>
          <a:xfrm>
            <a:off x="1622729" y="3103771"/>
            <a:ext cx="8946541" cy="2197394"/>
          </a:xfrm>
        </p:spPr>
        <p:txBody>
          <a:bodyPr>
            <a:normAutofit fontScale="85000" lnSpcReduction="20000"/>
          </a:bodyPr>
          <a:lstStyle/>
          <a:p>
            <a:r>
              <a:rPr lang="en-US" dirty="0"/>
              <a:t>Secrets are passwords, API keys, connection settings…</a:t>
            </a:r>
          </a:p>
          <a:p>
            <a:r>
              <a:rPr lang="en-US" dirty="0"/>
              <a:t>Making a repository safer includes a number one rule: sensitive information should never be stored in the source code repository.</a:t>
            </a:r>
          </a:p>
          <a:p>
            <a:r>
              <a:rPr lang="en-US" dirty="0"/>
              <a:t>This includes never hardcoding secrets in source code. </a:t>
            </a:r>
          </a:p>
          <a:p>
            <a:r>
              <a:rPr lang="en-US" dirty="0"/>
              <a:t>Use secret management tools like Vault, Snekker, </a:t>
            </a:r>
            <a:r>
              <a:rPr lang="en-US" dirty="0" err="1"/>
              <a:t>Keywhiz</a:t>
            </a:r>
            <a:r>
              <a:rPr lang="en-US" dirty="0"/>
              <a:t>…</a:t>
            </a:r>
          </a:p>
          <a:p>
            <a:r>
              <a:rPr lang="en-US" dirty="0"/>
              <a:t>Ensure that application access secrets are only used when required. </a:t>
            </a:r>
          </a:p>
          <a:p>
            <a:pPr marL="0" indent="0">
              <a:buNone/>
            </a:pPr>
            <a:r>
              <a:rPr lang="en-US" dirty="0"/>
              <a:t>Kim et al. (2021)</a:t>
            </a:r>
          </a:p>
          <a:p>
            <a:pPr marL="0" indent="0">
              <a:buNone/>
            </a:pPr>
            <a:endParaRPr lang="en-US" dirty="0"/>
          </a:p>
        </p:txBody>
      </p:sp>
      <p:sp>
        <p:nvSpPr>
          <p:cNvPr id="4" name="TextBox 3">
            <a:extLst>
              <a:ext uri="{FF2B5EF4-FFF2-40B4-BE49-F238E27FC236}">
                <a16:creationId xmlns:a16="http://schemas.microsoft.com/office/drawing/2014/main" id="{0CF0AAF1-E52E-B2FD-DE09-FEB3D3AE80C0}"/>
              </a:ext>
            </a:extLst>
          </p:cNvPr>
          <p:cNvSpPr txBox="1"/>
          <p:nvPr/>
        </p:nvSpPr>
        <p:spPr>
          <a:xfrm>
            <a:off x="10685721" y="818708"/>
            <a:ext cx="479618" cy="369332"/>
          </a:xfrm>
          <a:prstGeom prst="rect">
            <a:avLst/>
          </a:prstGeom>
          <a:noFill/>
        </p:spPr>
        <p:txBody>
          <a:bodyPr wrap="none" rtlCol="0">
            <a:spAutoFit/>
          </a:bodyPr>
          <a:lstStyle/>
          <a:p>
            <a:r>
              <a:rPr lang="en-US" dirty="0"/>
              <a:t>#4</a:t>
            </a:r>
          </a:p>
        </p:txBody>
      </p:sp>
    </p:spTree>
    <p:extLst>
      <p:ext uri="{BB962C8B-B14F-4D97-AF65-F5344CB8AC3E}">
        <p14:creationId xmlns:p14="http://schemas.microsoft.com/office/powerpoint/2010/main" val="2544433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D99B1-220D-3850-A439-8DD8C449F63A}"/>
              </a:ext>
            </a:extLst>
          </p:cNvPr>
          <p:cNvSpPr>
            <a:spLocks noGrp="1"/>
          </p:cNvSpPr>
          <p:nvPr>
            <p:ph type="title"/>
          </p:nvPr>
        </p:nvSpPr>
        <p:spPr/>
        <p:txBody>
          <a:bodyPr/>
          <a:lstStyle/>
          <a:p>
            <a:r>
              <a:rPr lang="en-US" dirty="0"/>
              <a:t>Security Training</a:t>
            </a:r>
          </a:p>
        </p:txBody>
      </p:sp>
      <p:sp>
        <p:nvSpPr>
          <p:cNvPr id="3" name="Content Placeholder 2">
            <a:extLst>
              <a:ext uri="{FF2B5EF4-FFF2-40B4-BE49-F238E27FC236}">
                <a16:creationId xmlns:a16="http://schemas.microsoft.com/office/drawing/2014/main" id="{015CF741-235E-C19D-0887-60DA8632A926}"/>
              </a:ext>
            </a:extLst>
          </p:cNvPr>
          <p:cNvSpPr>
            <a:spLocks noGrp="1"/>
          </p:cNvSpPr>
          <p:nvPr>
            <p:ph idx="1"/>
          </p:nvPr>
        </p:nvSpPr>
        <p:spPr>
          <a:xfrm>
            <a:off x="1805060" y="3178904"/>
            <a:ext cx="8946541" cy="1825486"/>
          </a:xfrm>
        </p:spPr>
        <p:txBody>
          <a:bodyPr>
            <a:normAutofit fontScale="85000" lnSpcReduction="10000"/>
          </a:bodyPr>
          <a:lstStyle/>
          <a:p>
            <a:r>
              <a:rPr lang="en-US" dirty="0"/>
              <a:t>To improve the efficiency of security integration, developers should be trained on how to use all approved security components stored in the repository.</a:t>
            </a:r>
          </a:p>
          <a:p>
            <a:r>
              <a:rPr lang="en-US" dirty="0"/>
              <a:t>That reduces configuration errors and vulnerabilities.</a:t>
            </a:r>
          </a:p>
          <a:p>
            <a:r>
              <a:rPr lang="en-US" dirty="0"/>
              <a:t>That includes a culture of security in the SDLC.</a:t>
            </a:r>
          </a:p>
          <a:p>
            <a:pPr marL="0" indent="0">
              <a:buNone/>
            </a:pPr>
            <a:r>
              <a:rPr lang="en-US" dirty="0"/>
              <a:t>Kim et al. (2021)</a:t>
            </a:r>
          </a:p>
          <a:p>
            <a:pPr marL="0" indent="0">
              <a:buNone/>
            </a:pPr>
            <a:endParaRPr lang="en-US" dirty="0"/>
          </a:p>
        </p:txBody>
      </p:sp>
      <p:sp>
        <p:nvSpPr>
          <p:cNvPr id="4" name="TextBox 3">
            <a:extLst>
              <a:ext uri="{FF2B5EF4-FFF2-40B4-BE49-F238E27FC236}">
                <a16:creationId xmlns:a16="http://schemas.microsoft.com/office/drawing/2014/main" id="{00E864FA-CBCC-FD9E-2640-8333DD530CD8}"/>
              </a:ext>
            </a:extLst>
          </p:cNvPr>
          <p:cNvSpPr txBox="1"/>
          <p:nvPr/>
        </p:nvSpPr>
        <p:spPr>
          <a:xfrm>
            <a:off x="10664456" y="829339"/>
            <a:ext cx="479618" cy="369332"/>
          </a:xfrm>
          <a:prstGeom prst="rect">
            <a:avLst/>
          </a:prstGeom>
          <a:noFill/>
        </p:spPr>
        <p:txBody>
          <a:bodyPr wrap="none" rtlCol="0">
            <a:spAutoFit/>
          </a:bodyPr>
          <a:lstStyle/>
          <a:p>
            <a:r>
              <a:rPr lang="en-US" dirty="0"/>
              <a:t>#5</a:t>
            </a:r>
          </a:p>
        </p:txBody>
      </p:sp>
    </p:spTree>
    <p:extLst>
      <p:ext uri="{BB962C8B-B14F-4D97-AF65-F5344CB8AC3E}">
        <p14:creationId xmlns:p14="http://schemas.microsoft.com/office/powerpoint/2010/main" val="1876094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34B3A-7E2A-0088-BCDA-32FD215FBB5E}"/>
              </a:ext>
            </a:extLst>
          </p:cNvPr>
          <p:cNvSpPr>
            <a:spLocks noGrp="1"/>
          </p:cNvSpPr>
          <p:nvPr>
            <p:ph type="title"/>
          </p:nvPr>
        </p:nvSpPr>
        <p:spPr/>
        <p:txBody>
          <a:bodyPr/>
          <a:lstStyle/>
          <a:p>
            <a:r>
              <a:rPr lang="en-US" dirty="0"/>
              <a:t>Repository Security and Access Control</a:t>
            </a:r>
          </a:p>
        </p:txBody>
      </p:sp>
      <p:sp>
        <p:nvSpPr>
          <p:cNvPr id="3" name="Content Placeholder 2">
            <a:extLst>
              <a:ext uri="{FF2B5EF4-FFF2-40B4-BE49-F238E27FC236}">
                <a16:creationId xmlns:a16="http://schemas.microsoft.com/office/drawing/2014/main" id="{ADDA8C98-B174-FEA8-8FE3-4E8474582FA3}"/>
              </a:ext>
            </a:extLst>
          </p:cNvPr>
          <p:cNvSpPr>
            <a:spLocks noGrp="1"/>
          </p:cNvSpPr>
          <p:nvPr>
            <p:ph idx="1"/>
          </p:nvPr>
        </p:nvSpPr>
        <p:spPr>
          <a:xfrm>
            <a:off x="1622729" y="3656433"/>
            <a:ext cx="8946541" cy="1825486"/>
          </a:xfrm>
        </p:spPr>
        <p:txBody>
          <a:bodyPr>
            <a:normAutofit fontScale="77500" lnSpcReduction="20000"/>
          </a:bodyPr>
          <a:lstStyle/>
          <a:p>
            <a:r>
              <a:rPr lang="en-US" dirty="0"/>
              <a:t>Granular permissions allow granting only the required permissions to specific users.</a:t>
            </a:r>
          </a:p>
          <a:p>
            <a:r>
              <a:rPr lang="en-US" dirty="0"/>
              <a:t>Protected branches prevent unauthorized changes.</a:t>
            </a:r>
          </a:p>
          <a:p>
            <a:r>
              <a:rPr lang="en-US" dirty="0"/>
              <a:t>Automated security scanning for vulnerability detection.</a:t>
            </a:r>
          </a:p>
          <a:p>
            <a:r>
              <a:rPr lang="en-US" dirty="0"/>
              <a:t>Audit logging.</a:t>
            </a:r>
          </a:p>
          <a:p>
            <a:pPr marL="0" indent="0">
              <a:buNone/>
            </a:pPr>
            <a:r>
              <a:rPr lang="en-US" dirty="0"/>
              <a:t>(GitHub, 2024)</a:t>
            </a:r>
          </a:p>
          <a:p>
            <a:endParaRPr lang="en-US" dirty="0"/>
          </a:p>
          <a:p>
            <a:endParaRPr lang="en-US" dirty="0"/>
          </a:p>
        </p:txBody>
      </p:sp>
      <p:sp>
        <p:nvSpPr>
          <p:cNvPr id="4" name="TextBox 3">
            <a:extLst>
              <a:ext uri="{FF2B5EF4-FFF2-40B4-BE49-F238E27FC236}">
                <a16:creationId xmlns:a16="http://schemas.microsoft.com/office/drawing/2014/main" id="{FC170A1A-44D1-139F-2CD4-20775C462508}"/>
              </a:ext>
            </a:extLst>
          </p:cNvPr>
          <p:cNvSpPr txBox="1"/>
          <p:nvPr/>
        </p:nvSpPr>
        <p:spPr>
          <a:xfrm>
            <a:off x="10675089" y="818707"/>
            <a:ext cx="479618" cy="369332"/>
          </a:xfrm>
          <a:prstGeom prst="rect">
            <a:avLst/>
          </a:prstGeom>
          <a:noFill/>
        </p:spPr>
        <p:txBody>
          <a:bodyPr wrap="none" rtlCol="0">
            <a:spAutoFit/>
          </a:bodyPr>
          <a:lstStyle/>
          <a:p>
            <a:r>
              <a:rPr lang="en-US" dirty="0"/>
              <a:t>#6</a:t>
            </a:r>
          </a:p>
        </p:txBody>
      </p:sp>
    </p:spTree>
    <p:extLst>
      <p:ext uri="{BB962C8B-B14F-4D97-AF65-F5344CB8AC3E}">
        <p14:creationId xmlns:p14="http://schemas.microsoft.com/office/powerpoint/2010/main" val="2746682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7A064-06E3-21AC-1857-8490012002EA}"/>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AB3D19C-D5F6-8FEF-8105-61D93822B27A}"/>
              </a:ext>
            </a:extLst>
          </p:cNvPr>
          <p:cNvSpPr>
            <a:spLocks noGrp="1"/>
          </p:cNvSpPr>
          <p:nvPr>
            <p:ph idx="1"/>
          </p:nvPr>
        </p:nvSpPr>
        <p:spPr>
          <a:xfrm>
            <a:off x="1369126" y="3429000"/>
            <a:ext cx="8946541" cy="1825486"/>
          </a:xfrm>
        </p:spPr>
        <p:txBody>
          <a:bodyPr/>
          <a:lstStyle/>
          <a:p>
            <a:pPr marL="0" indent="0">
              <a:buNone/>
            </a:pPr>
            <a:r>
              <a:rPr lang="en-US" dirty="0"/>
              <a:t>Secured shared source code repositories should become the norm in all organizations, as they help build safer products more efficiently, thanks to a standardization of security tools and measures from the beginning.</a:t>
            </a:r>
          </a:p>
        </p:txBody>
      </p:sp>
      <p:sp>
        <p:nvSpPr>
          <p:cNvPr id="4" name="TextBox 3">
            <a:extLst>
              <a:ext uri="{FF2B5EF4-FFF2-40B4-BE49-F238E27FC236}">
                <a16:creationId xmlns:a16="http://schemas.microsoft.com/office/drawing/2014/main" id="{D6657557-07C3-75F9-2AFE-F6F4892394D0}"/>
              </a:ext>
            </a:extLst>
          </p:cNvPr>
          <p:cNvSpPr txBox="1"/>
          <p:nvPr/>
        </p:nvSpPr>
        <p:spPr>
          <a:xfrm>
            <a:off x="10706986" y="776177"/>
            <a:ext cx="479618" cy="369332"/>
          </a:xfrm>
          <a:prstGeom prst="rect">
            <a:avLst/>
          </a:prstGeom>
          <a:noFill/>
        </p:spPr>
        <p:txBody>
          <a:bodyPr wrap="none" rtlCol="0">
            <a:spAutoFit/>
          </a:bodyPr>
          <a:lstStyle/>
          <a:p>
            <a:r>
              <a:rPr lang="en-US" dirty="0"/>
              <a:t>#7</a:t>
            </a:r>
          </a:p>
        </p:txBody>
      </p:sp>
    </p:spTree>
    <p:extLst>
      <p:ext uri="{BB962C8B-B14F-4D97-AF65-F5344CB8AC3E}">
        <p14:creationId xmlns:p14="http://schemas.microsoft.com/office/powerpoint/2010/main" val="1069695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D6083-D2E9-9B41-4634-C5B099F3BDE4}"/>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5703701-11D7-BC1B-C477-69928966937A}"/>
              </a:ext>
            </a:extLst>
          </p:cNvPr>
          <p:cNvSpPr>
            <a:spLocks noGrp="1"/>
          </p:cNvSpPr>
          <p:nvPr>
            <p:ph idx="1"/>
          </p:nvPr>
        </p:nvSpPr>
        <p:spPr>
          <a:xfrm>
            <a:off x="1622729" y="3072578"/>
            <a:ext cx="8946541" cy="1825486"/>
          </a:xfrm>
        </p:spPr>
        <p:txBody>
          <a:bodyPr>
            <a:normAutofit fontScale="92500" lnSpcReduction="10000"/>
          </a:bodyPr>
          <a:lstStyle/>
          <a:p>
            <a:r>
              <a:rPr lang="en-US" dirty="0"/>
              <a:t>GitHub. (2024, December 6). </a:t>
            </a:r>
            <a:r>
              <a:rPr lang="en-US" i="1" dirty="0"/>
              <a:t>What are code repositories?</a:t>
            </a:r>
            <a:r>
              <a:rPr lang="en-US" dirty="0"/>
              <a:t> GitHub Resources. </a:t>
            </a:r>
            <a:r>
              <a:rPr lang="en-US" dirty="0">
                <a:hlinkClick r:id="rId2"/>
              </a:rPr>
              <a:t>https://github.com/resources/articles/what-are-code-repositories</a:t>
            </a:r>
            <a:r>
              <a:rPr lang="en-US" dirty="0"/>
              <a:t> </a:t>
            </a:r>
          </a:p>
          <a:p>
            <a:r>
              <a:rPr lang="en-US" dirty="0"/>
              <a:t>Kim, G., Humble, J., Debois, P., &amp; Willis, J. (2021). </a:t>
            </a:r>
            <a:r>
              <a:rPr lang="en-US" i="1" dirty="0"/>
              <a:t>The DevOps handbook: How to create world-class agility, reliability, &amp; security in technology organizations</a:t>
            </a:r>
            <a:r>
              <a:rPr lang="en-US" dirty="0"/>
              <a:t> (2nd ed.). IT Revolution.</a:t>
            </a:r>
          </a:p>
        </p:txBody>
      </p:sp>
      <p:sp>
        <p:nvSpPr>
          <p:cNvPr id="4" name="TextBox 3">
            <a:extLst>
              <a:ext uri="{FF2B5EF4-FFF2-40B4-BE49-F238E27FC236}">
                <a16:creationId xmlns:a16="http://schemas.microsoft.com/office/drawing/2014/main" id="{8C88CCE0-B0E1-5726-D07F-8AB88C773213}"/>
              </a:ext>
            </a:extLst>
          </p:cNvPr>
          <p:cNvSpPr txBox="1"/>
          <p:nvPr/>
        </p:nvSpPr>
        <p:spPr>
          <a:xfrm>
            <a:off x="10685721" y="786809"/>
            <a:ext cx="479618" cy="369332"/>
          </a:xfrm>
          <a:prstGeom prst="rect">
            <a:avLst/>
          </a:prstGeom>
          <a:noFill/>
        </p:spPr>
        <p:txBody>
          <a:bodyPr wrap="none" rtlCol="0">
            <a:spAutoFit/>
          </a:bodyPr>
          <a:lstStyle/>
          <a:p>
            <a:r>
              <a:rPr lang="en-US" dirty="0"/>
              <a:t>#8</a:t>
            </a:r>
          </a:p>
        </p:txBody>
      </p:sp>
    </p:spTree>
    <p:extLst>
      <p:ext uri="{BB962C8B-B14F-4D97-AF65-F5344CB8AC3E}">
        <p14:creationId xmlns:p14="http://schemas.microsoft.com/office/powerpoint/2010/main" val="41190128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197</TotalTime>
  <Words>508</Words>
  <Application>Microsoft Macintosh PowerPoint</Application>
  <PresentationFormat>Widescreen</PresentationFormat>
  <Paragraphs>47</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Century Gothic</vt:lpstr>
      <vt:lpstr>Wingdings 3</vt:lpstr>
      <vt:lpstr>Ion</vt:lpstr>
      <vt:lpstr>Security Controls in Shared Source Code Repositories</vt:lpstr>
      <vt:lpstr>Shared Source Code Repositories Definition</vt:lpstr>
      <vt:lpstr>Why are Security Controls Necessary?</vt:lpstr>
      <vt:lpstr>Approved Security Libraries and Security Components</vt:lpstr>
      <vt:lpstr>Secrets Management</vt:lpstr>
      <vt:lpstr>Security Training</vt:lpstr>
      <vt:lpstr>Repository Security and Access Control</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Patrice Moracchini</dc:creator>
  <cp:lastModifiedBy>Patrice Moracchini</cp:lastModifiedBy>
  <cp:revision>2</cp:revision>
  <dcterms:created xsi:type="dcterms:W3CDTF">2026-07-26T21:14:35Z</dcterms:created>
  <dcterms:modified xsi:type="dcterms:W3CDTF">2026-07-27T00:31:58Z</dcterms:modified>
</cp:coreProperties>
</file>