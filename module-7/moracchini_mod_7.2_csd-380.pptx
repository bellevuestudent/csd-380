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2294A5-CF1E-4443-AFD6-21A154E1699E}" v="1" dt="2026-07-13T04:57:19.2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96F2-02BD-E71F-EFBD-14FECCF2D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7172325" cy="3152251"/>
          </a:xfrm>
        </p:spPr>
        <p:txBody>
          <a:bodyPr anchor="b"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90113-E8E1-4E48-41BC-583802BFC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7172325" cy="112236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C7EE5-BFF0-D779-4261-E239DB45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89492-34ED-FE24-4F29-E4C8F549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0C886-7F1E-7BC1-9A9E-B24C2AC2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74AEE6-9CA7-5247-DC34-99634247DF50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5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32FD-157B-437C-E9D5-B66E8B3B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90A51-A7E8-7A6A-5FD0-F9B250BE4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8C8B8-F999-7D95-435D-17CE6ACC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27265-C89C-937F-1DA3-F377F687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EB89E-4530-3632-3485-F481DB04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587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56A-761D-1DBC-276A-2A46D153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613" y="1355763"/>
            <a:ext cx="6972300" cy="225579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904B3-6AC1-19D5-3EAE-2009A3B4C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921820"/>
            <a:ext cx="5524500" cy="115093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2A86D-493D-5BF6-8AA6-F1231E3B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CCD76-6623-164A-7BFA-207AFA05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64312-1F20-5486-62B0-A8BB8829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03F1C9-9114-4426-6F07-F7FF9CCD5FC4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7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FC4C-4D16-E5A8-F934-8B158F6F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DE54-F935-945D-3E4F-B659695E8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500" y="2286002"/>
            <a:ext cx="5067300" cy="389096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F3710-E06B-05DE-937A-C92E52569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86001"/>
            <a:ext cx="5067300" cy="3890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02EFD-42D3-11C1-677E-0E478B93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C2F08-0D93-B14B-6106-2925DF3E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DE81-F2AB-CCB9-8B68-5E4F3101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03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D81B-4E36-1511-E9A7-8FB931B41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004888"/>
            <a:ext cx="10287000" cy="9001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A73DE-183B-9473-20AD-2D3BFED84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1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0FB3D-60AC-DEF2-4472-31B4E076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1" y="3048001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E5BDB-B29C-788F-E2FB-6C154E8FE8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174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3FF49-3276-24CA-BC81-FA92C0A93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3174" y="3048000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FA1C8-C196-9BE1-F603-3FC17EDD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79692-E142-E1D7-AD17-30C5F1365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90FCF2-7B78-2A2A-F878-58335FEA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2D0356-1ECF-682B-F87A-811BDD28B2CB}"/>
              </a:ext>
            </a:extLst>
          </p:cNvPr>
          <p:cNvCxnSpPr>
            <a:cxnSpLocks/>
          </p:cNvCxnSpPr>
          <p:nvPr/>
        </p:nvCxnSpPr>
        <p:spPr>
          <a:xfrm>
            <a:off x="1052513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06CA06-9701-E645-C0A5-594B227B288F}"/>
              </a:ext>
            </a:extLst>
          </p:cNvPr>
          <p:cNvCxnSpPr>
            <a:cxnSpLocks/>
          </p:cNvCxnSpPr>
          <p:nvPr/>
        </p:nvCxnSpPr>
        <p:spPr>
          <a:xfrm>
            <a:off x="6435725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739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4DA-C0D4-E152-7F42-F6352C96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14400"/>
            <a:ext cx="97155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2AA04-1E84-460C-F560-A228F930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B260E-3910-7D1B-5074-24F5F0AB5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020F1-A878-9B80-6B4F-7D71406B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2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7652D6-7AE9-3E3B-5C1B-2B4399B1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7127E-2A63-6F45-4C40-83584363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6FB79-D9D1-5381-0019-E24F8B4D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34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23B5-7DA9-0E4F-DA39-4624DB8A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69065"/>
            <a:ext cx="3266536" cy="2312979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A5E77-518A-1FB9-B473-E19CADE04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4423" y="987425"/>
            <a:ext cx="5615077" cy="4873625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5344F-7D06-2406-D113-D24587835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47801"/>
            <a:ext cx="3266536" cy="23828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BE708-BAD0-A0A6-9332-9D2179E67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70050-9362-4EC4-6B73-3A38445B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DA991-8608-CAB4-33FA-03D380D2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512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B837-332D-9100-E007-7DE27948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1385457"/>
            <a:ext cx="3312543" cy="230428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DE983-0B0E-07CC-8C57-4EA529E27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24423" y="957263"/>
            <a:ext cx="5372189" cy="4962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AB867-3FC6-5007-61B0-D9B7E5B0C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58315"/>
            <a:ext cx="3312542" cy="19614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C7E0F-BFE1-7134-163B-B777970B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95D0B-4F98-F3BE-FB23-22D8C5D4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B2E3D-2188-B7A9-0ECE-97814735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95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F4143-3C41-D626-8F64-36A9C9F1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914400"/>
            <a:ext cx="9962791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2C4FB-B560-A0FC-6435-952981BC9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2285997"/>
            <a:ext cx="9962791" cy="38909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CEC4F-0A90-11E2-E43E-B9E765AF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A5B4-1D77-B0AC-49E7-CAE9556B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96EF9-2FDA-8E87-D546-8840CEBF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86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085AB7-38B3-7F80-0B2D-7960F5637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24513" y="1052423"/>
            <a:ext cx="1771292" cy="49170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DBDC3-E9EA-8699-B2E4-4C7784455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14" y="1052424"/>
            <a:ext cx="7873043" cy="49170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DBEDE-3A67-6FCA-25F3-B91F7C82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FF51-4318-20EA-3A3A-8FE203B1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D9703-5BAD-DE95-98D9-0F30E7C0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64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258B98-3BD5-0A20-B0E7-944EAEB2654A}"/>
              </a:ext>
            </a:extLst>
          </p:cNvPr>
          <p:cNvSpPr/>
          <p:nvPr/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404C1-E8A5-65FC-C068-21EA0397E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57238"/>
            <a:ext cx="10287000" cy="1147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CFD78-F171-BA47-AAF3-C6EB75F94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285997"/>
            <a:ext cx="10287000" cy="3890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65A77-B1AB-D608-A6C5-F0F99B691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68087" y="4756249"/>
            <a:ext cx="24763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9D0D92BC-42A9-434B-8530-ADBF4485E407}" type="datetimeFigureOut">
              <a:rPr lang="en-US" smtClean="0"/>
              <a:pPr/>
              <a:t>7/12/26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E34E5-5E9B-7786-05B5-B93241EE2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89519" y="1758059"/>
            <a:ext cx="2433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5CD4B-611E-32FA-419D-326099EEF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9542" y="3246437"/>
            <a:ext cx="533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fld id="{A0289F9E-9962-4B7B-BA18-A15907CCC6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49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2120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496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3210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F55FD1-95FA-98DA-84AA-145D29A53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30A705-6F8D-E0CF-9A43-E33FD0F1AB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5944" b="4056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AC9EE06-57AF-0FF5-450C-2A606C23B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375140"/>
            <a:ext cx="12192000" cy="4488388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1814">
                <a:schemeClr val="accent1">
                  <a:lumMod val="60000"/>
                  <a:lumOff val="40000"/>
                  <a:alpha val="89000"/>
                </a:schemeClr>
              </a:gs>
              <a:gs pos="94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47873-1829-4800-0F03-79AFE2309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3404558"/>
            <a:ext cx="7355457" cy="1560167"/>
          </a:xfrm>
        </p:spPr>
        <p:txBody>
          <a:bodyPr>
            <a:normAutofit/>
          </a:bodyPr>
          <a:lstStyle/>
          <a:p>
            <a:r>
              <a:rPr lang="en-US" dirty="0"/>
              <a:t>Best Practices for Pager rotation duties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624FD-B559-FB86-784A-6C0519F2C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5610250"/>
            <a:ext cx="7172325" cy="75604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700" dirty="0"/>
              <a:t>By Patrice Moracchini</a:t>
            </a:r>
          </a:p>
          <a:p>
            <a:pPr>
              <a:lnSpc>
                <a:spcPct val="110000"/>
              </a:lnSpc>
            </a:pPr>
            <a:r>
              <a:rPr lang="en-US" sz="700" dirty="0"/>
              <a:t>CSD-380</a:t>
            </a:r>
          </a:p>
          <a:p>
            <a:pPr>
              <a:lnSpc>
                <a:spcPct val="110000"/>
              </a:lnSpc>
            </a:pPr>
            <a:r>
              <a:rPr lang="en-US" sz="700" dirty="0"/>
              <a:t>Pr. samson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3FECB8-44EE-4A45-9F7B-66ECF1C3C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6825" y="5292529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344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E4F38-120E-8242-CDFA-0F8730AEF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2B40F-565A-E431-69DF-526A25027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A pager rotation is a schedule for responding to emergency system issues.</a:t>
            </a:r>
          </a:p>
          <a:p>
            <a:endParaRPr lang="en-US" sz="2000" dirty="0"/>
          </a:p>
          <a:p>
            <a:r>
              <a:rPr lang="en-US" sz="2000" dirty="0"/>
              <a:t>The employee is the on-call responder </a:t>
            </a:r>
          </a:p>
          <a:p>
            <a:endParaRPr lang="en-US" sz="2000" dirty="0"/>
          </a:p>
          <a:p>
            <a:r>
              <a:rPr lang="en-US" sz="2000" dirty="0"/>
              <a:t>A page is  an alert that require immediate attention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200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9E99A-0B3C-826E-96C2-13ADDB3DF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pager rotation is non-negotiable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F7337-C5EB-AB7A-4944-C23B32428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Software system can fail anytime.</a:t>
            </a:r>
          </a:p>
          <a:p>
            <a:endParaRPr lang="en-US" dirty="0"/>
          </a:p>
          <a:p>
            <a:r>
              <a:rPr lang="en-US" dirty="0"/>
              <a:t>Pager rotation ensure there always an employe available to treat the problem.</a:t>
            </a:r>
          </a:p>
          <a:p>
            <a:endParaRPr lang="en-US" dirty="0"/>
          </a:p>
          <a:p>
            <a:r>
              <a:rPr lang="en-US" dirty="0"/>
              <a:t>The fastest the answer the less harm for the users.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640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D1504-8FB2-BA89-5B31-2DBB5D8B6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5EEE9-E140-46C7-2C8C-656934DAE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sz="2000" dirty="0"/>
              <a:t>First monitoring gives a feedback</a:t>
            </a:r>
          </a:p>
          <a:p>
            <a:endParaRPr lang="en-US" sz="2000" dirty="0"/>
          </a:p>
          <a:p>
            <a:r>
              <a:rPr lang="en-US" sz="2000" dirty="0"/>
              <a:t>Pager duty transfers the feedback to the developers</a:t>
            </a:r>
          </a:p>
          <a:p>
            <a:endParaRPr lang="en-US" sz="2000" dirty="0"/>
          </a:p>
          <a:p>
            <a:r>
              <a:rPr lang="en-US" sz="2000" dirty="0"/>
              <a:t>Development and Operation work together to fix the problems</a:t>
            </a:r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793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A2EE-A69B-4843-EDE5-CED32DFCA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On-Call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F0749-2337-FB76-4C5E-307721C5D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sz="2000" dirty="0"/>
          </a:p>
          <a:p>
            <a:r>
              <a:rPr lang="en-US" sz="2000" dirty="0"/>
              <a:t>Acknowledge the alert</a:t>
            </a:r>
          </a:p>
          <a:p>
            <a:r>
              <a:rPr lang="en-US" sz="2000" dirty="0"/>
              <a:t>Investigate and fix the problem</a:t>
            </a:r>
          </a:p>
          <a:p>
            <a:r>
              <a:rPr lang="en-US" sz="2000" dirty="0"/>
              <a:t>Restore the service</a:t>
            </a:r>
          </a:p>
          <a:p>
            <a:r>
              <a:rPr lang="en-US" sz="2000" dirty="0"/>
              <a:t>Escalate when help is needed</a:t>
            </a:r>
          </a:p>
          <a:p>
            <a:r>
              <a:rPr lang="en-US" sz="2000" dirty="0"/>
              <a:t>Document  the incident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43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B515-BA5E-D688-3B3B-720781F3E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Pager rotation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6DF63-1ECA-3564-3614-AE6DC91B5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Page only for emergencies</a:t>
            </a:r>
          </a:p>
          <a:p>
            <a:r>
              <a:rPr lang="en-US" dirty="0"/>
              <a:t>Sort alerts  and remove duplicates</a:t>
            </a:r>
          </a:p>
          <a:p>
            <a:r>
              <a:rPr lang="en-US" dirty="0"/>
              <a:t>Listen employee feedback </a:t>
            </a:r>
          </a:p>
          <a:p>
            <a:r>
              <a:rPr lang="en-US" dirty="0"/>
              <a:t>Plan balanced schedules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669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71505-1C1F-8F3C-B612-485DB4D9A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and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E60BB-F8C3-FC44-F0C8-1F1E33D8E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sz="2000" dirty="0"/>
          </a:p>
          <a:p>
            <a:r>
              <a:rPr lang="en-US" sz="2000" dirty="0"/>
              <a:t>Have trainees follow experienced employees</a:t>
            </a:r>
          </a:p>
          <a:p>
            <a:endParaRPr lang="en-US" sz="2000" dirty="0"/>
          </a:p>
          <a:p>
            <a:r>
              <a:rPr lang="en-US" sz="2000" dirty="0"/>
              <a:t>Clearly explain schedule and expectations</a:t>
            </a:r>
          </a:p>
          <a:p>
            <a:endParaRPr lang="en-US" sz="2000" dirty="0"/>
          </a:p>
          <a:p>
            <a:r>
              <a:rPr lang="en-US" sz="2000" dirty="0"/>
              <a:t>Use primary back up responders</a:t>
            </a:r>
          </a:p>
        </p:txBody>
      </p:sp>
    </p:spTree>
    <p:extLst>
      <p:ext uri="{BB962C8B-B14F-4D97-AF65-F5344CB8AC3E}">
        <p14:creationId xmlns:p14="http://schemas.microsoft.com/office/powerpoint/2010/main" val="3471094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F15AD-4BFF-B091-E6BB-AE3D63E7B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C95FB-3F97-1672-31A2-92DE110AC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Atlassian. (n.d.). *A manager’s guide to improving on-call*. https://</a:t>
            </a:r>
            <a:r>
              <a:rPr lang="en-US" dirty="0" err="1"/>
              <a:t>www.atlassian.com</a:t>
            </a:r>
            <a:r>
              <a:rPr lang="en-US" dirty="0"/>
              <a:t>/incident-management/on-call/improving-on-call</a:t>
            </a:r>
          </a:p>
          <a:p>
            <a:endParaRPr lang="en-US" dirty="0"/>
          </a:p>
          <a:p>
            <a:r>
              <a:rPr lang="en-US" dirty="0" err="1"/>
              <a:t>Skoczny</a:t>
            </a:r>
            <a:r>
              <a:rPr lang="en-US" dirty="0"/>
              <a:t>, D. (2019, April 7). *The three ways: The </a:t>
            </a:r>
            <a:r>
              <a:rPr lang="en-US" dirty="0" err="1"/>
              <a:t>princeples</a:t>
            </a:r>
            <a:r>
              <a:rPr lang="en-US" dirty="0"/>
              <a:t> of feedback*. Medium. https://</a:t>
            </a:r>
            <a:r>
              <a:rPr lang="en-US" dirty="0" err="1"/>
              <a:t>medium.com</a:t>
            </a:r>
            <a:r>
              <a:rPr lang="en-US" dirty="0"/>
              <a:t>/@</a:t>
            </a:r>
            <a:r>
              <a:rPr lang="en-US" dirty="0" err="1"/>
              <a:t>DSkoczny</a:t>
            </a:r>
            <a:r>
              <a:rPr lang="en-US"/>
              <a:t>/the-three-ways-the-princeples-of-feedback-9aff3f708b5b</a:t>
            </a:r>
          </a:p>
        </p:txBody>
      </p:sp>
    </p:spTree>
    <p:extLst>
      <p:ext uri="{BB962C8B-B14F-4D97-AF65-F5344CB8AC3E}">
        <p14:creationId xmlns:p14="http://schemas.microsoft.com/office/powerpoint/2010/main" val="2516662719"/>
      </p:ext>
    </p:extLst>
  </p:cSld>
  <p:clrMapOvr>
    <a:masterClrMapping/>
  </p:clrMapOvr>
</p:sld>
</file>

<file path=ppt/theme/theme1.xml><?xml version="1.0" encoding="utf-8"?>
<a:theme xmlns:a="http://schemas.openxmlformats.org/drawingml/2006/main" name="AfterglowVTI">
  <a:themeElements>
    <a:clrScheme name="Custom 7">
      <a:dk1>
        <a:sysClr val="windowText" lastClr="000000"/>
      </a:dk1>
      <a:lt1>
        <a:sysClr val="window" lastClr="FFFFFF"/>
      </a:lt1>
      <a:dk2>
        <a:srgbClr val="0A2E36"/>
      </a:dk2>
      <a:lt2>
        <a:srgbClr val="E7E6E6"/>
      </a:lt2>
      <a:accent1>
        <a:srgbClr val="188659"/>
      </a:accent1>
      <a:accent2>
        <a:srgbClr val="A3A300"/>
      </a:accent2>
      <a:accent3>
        <a:srgbClr val="00ADA8"/>
      </a:accent3>
      <a:accent4>
        <a:srgbClr val="EA0440"/>
      </a:accent4>
      <a:accent5>
        <a:srgbClr val="92278F"/>
      </a:accent5>
      <a:accent6>
        <a:srgbClr val="E15BC1"/>
      </a:accent6>
      <a:hlink>
        <a:srgbClr val="188659"/>
      </a:hlink>
      <a:folHlink>
        <a:srgbClr val="EA0440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terglowVTI" id="{804DBEB7-1920-4C72-A0CB-091339F1875F}" vid="{D4C59F5A-9ECA-4C96-BDFD-0606A75324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217</Words>
  <Application>Microsoft Macintosh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Trade Gothic Next Cond</vt:lpstr>
      <vt:lpstr>Trade Gothic Next Light</vt:lpstr>
      <vt:lpstr>AfterglowVTI</vt:lpstr>
      <vt:lpstr>Best Practices for Pager rotation duties</vt:lpstr>
      <vt:lpstr>Definition</vt:lpstr>
      <vt:lpstr>Why pager rotation is non-negotiable </vt:lpstr>
      <vt:lpstr>Feedback</vt:lpstr>
      <vt:lpstr>On-Call Practices</vt:lpstr>
      <vt:lpstr>Improving Pager rotation</vt:lpstr>
      <vt:lpstr>Training and support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Patrice Moracchini</dc:creator>
  <cp:lastModifiedBy>Patrice Moracchini</cp:lastModifiedBy>
  <cp:revision>3</cp:revision>
  <dcterms:created xsi:type="dcterms:W3CDTF">2026-07-13T04:19:50Z</dcterms:created>
  <dcterms:modified xsi:type="dcterms:W3CDTF">2026-07-13T04:58:42Z</dcterms:modified>
</cp:coreProperties>
</file>